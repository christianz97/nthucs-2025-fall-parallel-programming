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9"/>
  </p:notesMasterIdLst>
  <p:sldIdLst>
    <p:sldId id="256" r:id="rId2"/>
    <p:sldId id="258" r:id="rId3"/>
    <p:sldId id="259" r:id="rId4"/>
    <p:sldId id="270" r:id="rId5"/>
    <p:sldId id="264" r:id="rId6"/>
    <p:sldId id="291" r:id="rId7"/>
    <p:sldId id="260" r:id="rId8"/>
    <p:sldId id="271" r:id="rId9"/>
    <p:sldId id="263" r:id="rId10"/>
    <p:sldId id="261" r:id="rId11"/>
    <p:sldId id="265" r:id="rId12"/>
    <p:sldId id="266" r:id="rId13"/>
    <p:sldId id="268" r:id="rId14"/>
    <p:sldId id="285" r:id="rId15"/>
    <p:sldId id="288" r:id="rId16"/>
    <p:sldId id="289" r:id="rId17"/>
    <p:sldId id="286" r:id="rId18"/>
    <p:sldId id="287" r:id="rId19"/>
    <p:sldId id="290" r:id="rId20"/>
    <p:sldId id="284" r:id="rId21"/>
    <p:sldId id="269" r:id="rId22"/>
    <p:sldId id="283" r:id="rId23"/>
    <p:sldId id="279" r:id="rId24"/>
    <p:sldId id="267" r:id="rId25"/>
    <p:sldId id="280" r:id="rId26"/>
    <p:sldId id="282" r:id="rId27"/>
    <p:sldId id="278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161F0FC1-ADAC-488C-8F92-A0EA6FB2CFA0}">
          <p14:sldIdLst>
            <p14:sldId id="256"/>
            <p14:sldId id="258"/>
            <p14:sldId id="259"/>
            <p14:sldId id="270"/>
            <p14:sldId id="264"/>
            <p14:sldId id="291"/>
            <p14:sldId id="260"/>
            <p14:sldId id="271"/>
            <p14:sldId id="263"/>
            <p14:sldId id="261"/>
            <p14:sldId id="265"/>
            <p14:sldId id="266"/>
            <p14:sldId id="268"/>
            <p14:sldId id="285"/>
            <p14:sldId id="288"/>
            <p14:sldId id="289"/>
            <p14:sldId id="286"/>
            <p14:sldId id="287"/>
            <p14:sldId id="290"/>
            <p14:sldId id="284"/>
            <p14:sldId id="269"/>
            <p14:sldId id="283"/>
            <p14:sldId id="279"/>
            <p14:sldId id="267"/>
            <p14:sldId id="280"/>
            <p14:sldId id="282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72B3"/>
    <a:srgbClr val="C44E52"/>
    <a:srgbClr val="55A868"/>
    <a:srgbClr val="4C72B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9"/>
    <p:restoredTop sz="94726"/>
  </p:normalViewPr>
  <p:slideViewPr>
    <p:cSldViewPr snapToGrid="0">
      <p:cViewPr varScale="1">
        <p:scale>
          <a:sx n="117" d="100"/>
          <a:sy n="117" d="100"/>
        </p:scale>
        <p:origin x="19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07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CF871F-4F14-4654-83CA-983B94F2FDB7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AA64BC-958A-4CA1-8680-8241197A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28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B0F-70D6-4910-A075-BF9E6F687C2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161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B0F-70D6-4910-A075-BF9E6F687C2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18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B0F-70D6-4910-A075-BF9E6F687C2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96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B0F-70D6-4910-A075-BF9E6F687C2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92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B0F-70D6-4910-A075-BF9E6F687C2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63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B0F-70D6-4910-A075-BF9E6F687C2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510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B0F-70D6-4910-A075-BF9E6F687C2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81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B0F-70D6-4910-A075-BF9E6F687C2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88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B0F-70D6-4910-A075-BF9E6F687C2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61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B0F-70D6-4910-A075-BF9E6F687C2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78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B0F-70D6-4910-A075-BF9E6F687C2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97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CEB0F-70D6-4910-A075-BF9E6F687C22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B7459-26B8-4E63-9B52-4116F8E76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03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蓝色水彩墨迹晕染PPT背景- 优品PPT">
            <a:extLst>
              <a:ext uri="{FF2B5EF4-FFF2-40B4-BE49-F238E27FC236}">
                <a16:creationId xmlns:a16="http://schemas.microsoft.com/office/drawing/2014/main" id="{9D950EFD-557C-E5C8-39F7-369703813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9601914-AEE7-CB01-B342-73A38B357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6140"/>
            <a:ext cx="9144000" cy="284413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noProof="0" dirty="0"/>
              <a:t>Parallel Programming</a:t>
            </a:r>
            <a:br>
              <a:rPr lang="en-US" noProof="0" dirty="0"/>
            </a:br>
            <a:r>
              <a:rPr lang="en-US" sz="4800" noProof="0" dirty="0"/>
              <a:t>-Final Project-</a:t>
            </a:r>
            <a:br>
              <a:rPr lang="en-US" sz="4800" noProof="0" dirty="0"/>
            </a:br>
            <a:r>
              <a:rPr lang="en-US" sz="4800" b="0" i="1" noProof="0" dirty="0">
                <a:effectLst/>
              </a:rPr>
              <a:t>N</a:t>
            </a:r>
            <a:r>
              <a:rPr lang="en-US" sz="4800" b="0" i="0" noProof="0" dirty="0">
                <a:effectLst/>
              </a:rPr>
              <a:t>-Body Simulation</a:t>
            </a:r>
            <a:endParaRPr lang="en-US" noProof="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E11CB90-DE99-B185-A6DA-B74E381F1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2353"/>
            <a:ext cx="9144000" cy="165576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noProof="0" dirty="0"/>
              <a:t>Team 20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Team Leader: </a:t>
            </a:r>
            <a:r>
              <a:rPr lang="en-US" altLang="zh-TW" noProof="0" dirty="0"/>
              <a:t>113062529 </a:t>
            </a:r>
            <a:r>
              <a:rPr lang="en-US" altLang="zh-TW" noProof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鄭凱元</a:t>
            </a:r>
            <a:endParaRPr lang="en-US" altLang="zh-TW" noProof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noProof="0" dirty="0"/>
              <a:t>Team Members: 113062580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林宇凡</a:t>
            </a:r>
            <a:r>
              <a:rPr lang="en-US" noProof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noProof="0" dirty="0"/>
              <a:t>113062627 </a:t>
            </a:r>
            <a:r>
              <a:rPr lang="en-US" altLang="zh-TW" noProof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陳奕安</a:t>
            </a:r>
            <a:endParaRPr lang="en-US" altLang="zh-TW" noProof="0" dirty="0"/>
          </a:p>
        </p:txBody>
      </p:sp>
    </p:spTree>
    <p:extLst>
      <p:ext uri="{BB962C8B-B14F-4D97-AF65-F5344CB8AC3E}">
        <p14:creationId xmlns:p14="http://schemas.microsoft.com/office/powerpoint/2010/main" val="55364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9F0C62-2C1E-95C1-C583-9AD78DECC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noProof="0" dirty="0"/>
              <a:t>Introduction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noProof="0" dirty="0"/>
              <a:t>Implementation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noProof="0" dirty="0"/>
              <a:t>Serial CPU Optimization</a:t>
            </a:r>
          </a:p>
          <a:p>
            <a:pPr lvl="2">
              <a:lnSpc>
                <a:spcPct val="150000"/>
              </a:lnSpc>
            </a:pPr>
            <a:r>
              <a:rPr lang="en-US" noProof="0" dirty="0"/>
              <a:t>OpenMP</a:t>
            </a:r>
          </a:p>
          <a:p>
            <a:pPr lvl="2">
              <a:lnSpc>
                <a:spcPct val="150000"/>
              </a:lnSpc>
            </a:pPr>
            <a:r>
              <a:rPr lang="en-US" noProof="0" dirty="0"/>
              <a:t>Hybrid (MPI + OpenMP)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NVIDIA </a:t>
            </a:r>
            <a:r>
              <a:rPr lang="en-US" noProof="0" dirty="0"/>
              <a:t>CUDA Implementations</a:t>
            </a:r>
          </a:p>
          <a:p>
            <a:pPr lvl="2">
              <a:lnSpc>
                <a:spcPct val="150000"/>
              </a:lnSpc>
            </a:pPr>
            <a:r>
              <a:rPr lang="en-US" noProof="0" dirty="0"/>
              <a:t>Shared Memory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Structure of Arrays</a:t>
            </a:r>
          </a:p>
          <a:p>
            <a:pPr lvl="2">
              <a:lnSpc>
                <a:spcPct val="150000"/>
              </a:lnSpc>
            </a:pPr>
            <a:r>
              <a:rPr lang="en-US" noProof="0" dirty="0"/>
              <a:t>Block Size Tuning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noProof="0" dirty="0"/>
              <a:t>Experiments, Profiling </a:t>
            </a:r>
            <a:r>
              <a:rPr lang="en-US" altLang="zh-TW" dirty="0"/>
              <a:t> &amp; </a:t>
            </a:r>
            <a:r>
              <a:rPr lang="en-US" altLang="zh-TW" noProof="0" dirty="0"/>
              <a:t>AMD HIP Porting</a:t>
            </a:r>
          </a:p>
        </p:txBody>
      </p:sp>
    </p:spTree>
    <p:extLst>
      <p:ext uri="{BB962C8B-B14F-4D97-AF65-F5344CB8AC3E}">
        <p14:creationId xmlns:p14="http://schemas.microsoft.com/office/powerpoint/2010/main" val="110307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Introduction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F0F74A30-2EC6-F744-0C15-34CFCFB25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3240" y="2068283"/>
            <a:ext cx="7542320" cy="420408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noProof="0" dirty="0"/>
              <a:t>Problem:</a:t>
            </a:r>
            <a:r>
              <a:rPr lang="en-US" noProof="0" dirty="0"/>
              <a:t> </a:t>
            </a:r>
            <a:r>
              <a:rPr lang="en-US" b="1" noProof="0" dirty="0"/>
              <a:t>N-Body Simulation. </a:t>
            </a:r>
            <a:br>
              <a:rPr lang="en-US" b="1" noProof="0" dirty="0"/>
            </a:br>
            <a:r>
              <a:rPr lang="en-US" sz="2400" noProof="0" dirty="0"/>
              <a:t>Compute all-pairs gravitational forces between </a:t>
            </a:r>
            <a:r>
              <a:rPr lang="en-US" sz="2400" b="1" noProof="0" dirty="0"/>
              <a:t>N particles</a:t>
            </a:r>
            <a:r>
              <a:rPr lang="en-US" sz="2400" noProof="0" dirty="0"/>
              <a:t> and update positions/velocities over </a:t>
            </a:r>
            <a:r>
              <a:rPr lang="en-US" sz="2400" b="1" noProof="0" dirty="0"/>
              <a:t>T timesteps</a:t>
            </a:r>
            <a:r>
              <a:rPr lang="en-US" sz="2400" noProof="0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noProof="0" dirty="0"/>
              <a:t>Computational Complexity: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Per timestep: </a:t>
            </a:r>
            <a:r>
              <a:rPr lang="en-US" b="1" noProof="0" dirty="0"/>
              <a:t>O(N²)</a:t>
            </a:r>
            <a:r>
              <a:rPr lang="en-US" noProof="0" dirty="0"/>
              <a:t> force evaluations.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Whole simulation: </a:t>
            </a:r>
            <a:r>
              <a:rPr lang="en-US" b="1" noProof="0" dirty="0"/>
              <a:t>O(T · N²).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End-to-end runtime includes </a:t>
            </a:r>
            <a:r>
              <a:rPr lang="en-US" b="1" noProof="0" dirty="0"/>
              <a:t>Compute + Memory </a:t>
            </a:r>
            <a:r>
              <a:rPr lang="en-US" b="1" dirty="0"/>
              <a:t>T</a:t>
            </a:r>
            <a:r>
              <a:rPr lang="en-US" b="1" noProof="0" dirty="0" err="1"/>
              <a:t>raffic</a:t>
            </a:r>
            <a:r>
              <a:rPr lang="en-US" b="1" noProof="0" dirty="0"/>
              <a:t> + I/O (Trajectory </a:t>
            </a:r>
            <a:r>
              <a:rPr lang="en-US" b="1" dirty="0"/>
              <a:t>D</a:t>
            </a:r>
            <a:r>
              <a:rPr lang="en-US" b="1" noProof="0" dirty="0"/>
              <a:t>ump)</a:t>
            </a:r>
            <a:r>
              <a:rPr lang="en-US" noProof="0" dirty="0"/>
              <a:t>.</a:t>
            </a:r>
            <a:endParaRPr lang="en-US" b="1" noProof="0" dirty="0"/>
          </a:p>
          <a:p>
            <a:pPr>
              <a:lnSpc>
                <a:spcPct val="150000"/>
              </a:lnSpc>
            </a:pPr>
            <a:endParaRPr lang="en-US" noProof="0" dirty="0"/>
          </a:p>
        </p:txBody>
      </p:sp>
      <p:pic>
        <p:nvPicPr>
          <p:cNvPr id="1027" name="Picture 3" descr="Nbody Simulation">
            <a:extLst>
              <a:ext uri="{FF2B5EF4-FFF2-40B4-BE49-F238E27FC236}">
                <a16:creationId xmlns:a16="http://schemas.microsoft.com/office/drawing/2014/main" id="{45B47208-5DFB-049E-EE5E-E605DFA42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5560" y="2205595"/>
            <a:ext cx="2857500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78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Introduction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F0F74A30-2EC6-F744-0C15-34CFCFB25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noProof="0" dirty="0"/>
              <a:t>Goal of this Project:</a:t>
            </a:r>
          </a:p>
          <a:p>
            <a:pPr lvl="1">
              <a:lnSpc>
                <a:spcPct val="150000"/>
              </a:lnSpc>
            </a:pPr>
            <a:r>
              <a:rPr lang="en-US" sz="2800" noProof="0" dirty="0"/>
              <a:t>Speedup the simulation on CPU using: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noProof="0" dirty="0"/>
              <a:t>Serial CPU Optimizations</a:t>
            </a:r>
            <a:r>
              <a:rPr lang="en-US" sz="2400" noProof="0" dirty="0"/>
              <a:t> (baseline improvements)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noProof="0" dirty="0"/>
              <a:t>OpenMP</a:t>
            </a:r>
            <a:r>
              <a:rPr lang="en-US" sz="2400" noProof="0" dirty="0"/>
              <a:t> (threaded)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noProof="0" dirty="0"/>
              <a:t>MPI + OpenMP</a:t>
            </a:r>
            <a:r>
              <a:rPr lang="en-US" sz="2400" noProof="0" dirty="0"/>
              <a:t> (distributed + threaded hybrid)</a:t>
            </a:r>
          </a:p>
          <a:p>
            <a:pPr lvl="1">
              <a:lnSpc>
                <a:spcPct val="150000"/>
              </a:lnSpc>
            </a:pPr>
            <a:r>
              <a:rPr lang="en-US" sz="2800" noProof="0" dirty="0"/>
              <a:t>Speedup the simulation on GPU using: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noProof="0" dirty="0"/>
              <a:t>Naïve NVIDIA GPU GTX 1080 Optimizations</a:t>
            </a:r>
            <a:r>
              <a:rPr lang="en-US" sz="2400" noProof="0" dirty="0"/>
              <a:t> (baseline improvements)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noProof="0" dirty="0"/>
              <a:t>Shared Memory</a:t>
            </a:r>
            <a:endParaRPr lang="en-US" sz="2400" noProof="0" dirty="0"/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noProof="0" dirty="0"/>
              <a:t>Structure of Arrays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noProof="0" dirty="0"/>
              <a:t>AMD MI100 Porting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endParaRPr lang="en-US" b="1" noProof="0" dirty="0"/>
          </a:p>
          <a:p>
            <a:pPr>
              <a:lnSpc>
                <a:spcPct val="150000"/>
              </a:lnSpc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58854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33B08840-4112-3CFF-3AA4-3FE79054E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6B8E650-AB76-B2A6-CACB-3E86A3AA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E2EC69B-89F2-A75D-4BB2-D6B82346E5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508297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n-US" sz="2400" b="1" noProof="0" dirty="0"/>
                  <a:t>Program Structure (Common </a:t>
                </a:r>
                <a:r>
                  <a:rPr lang="en-US" sz="2400" b="1" dirty="0"/>
                  <a:t>P</a:t>
                </a:r>
                <a:r>
                  <a:rPr lang="en-US" sz="2400" b="1" noProof="0" dirty="0" err="1"/>
                  <a:t>ipeline</a:t>
                </a:r>
                <a:r>
                  <a:rPr lang="en-US" sz="2400" noProof="0" dirty="0"/>
                  <a:t>)</a:t>
                </a:r>
              </a:p>
              <a:p>
                <a:pPr marL="914400" lvl="1" indent="-457200">
                  <a:lnSpc>
                    <a:spcPct val="160000"/>
                  </a:lnSpc>
                  <a:buFont typeface="+mj-lt"/>
                  <a:buAutoNum type="arabicPeriod"/>
                </a:pPr>
                <a:r>
                  <a:rPr lang="en-US" sz="1800" noProof="0" dirty="0"/>
                  <a:t>Input / initialization: Parse </a:t>
                </a:r>
                <a:r>
                  <a:rPr lang="en-US" sz="1800" noProof="0" dirty="0">
                    <a:highlight>
                      <a:srgbClr val="C0C0C0"/>
                    </a:highlight>
                  </a:rPr>
                  <a:t>N, </a:t>
                </a:r>
                <a:r>
                  <a:rPr lang="en-US" sz="1800" noProof="0" dirty="0" err="1">
                    <a:highlight>
                      <a:srgbClr val="C0C0C0"/>
                    </a:highlight>
                  </a:rPr>
                  <a:t>total_time</a:t>
                </a:r>
                <a:r>
                  <a:rPr lang="en-US" sz="1800" noProof="0" dirty="0">
                    <a:highlight>
                      <a:srgbClr val="C0C0C0"/>
                    </a:highlight>
                  </a:rPr>
                  <a:t>, dt, </a:t>
                </a:r>
                <a:r>
                  <a:rPr lang="en-US" sz="1800" noProof="0" dirty="0" err="1">
                    <a:highlight>
                      <a:srgbClr val="C0C0C0"/>
                    </a:highlight>
                  </a:rPr>
                  <a:t>dump_interval</a:t>
                </a:r>
                <a:r>
                  <a:rPr lang="en-US" sz="1800" noProof="0" dirty="0"/>
                  <a:t>, allocate bodies &amp; buffers.</a:t>
                </a:r>
              </a:p>
              <a:p>
                <a:pPr marL="914400" lvl="1" indent="-457200">
                  <a:lnSpc>
                    <a:spcPct val="160000"/>
                  </a:lnSpc>
                  <a:buFont typeface="+mj-lt"/>
                  <a:buAutoNum type="arabicPeriod"/>
                </a:pPr>
                <a:r>
                  <a:rPr lang="en-US" sz="1800" noProof="0" dirty="0"/>
                  <a:t>Core compute: </a:t>
                </a:r>
                <a:r>
                  <a:rPr lang="en-US" sz="1800" noProof="0" dirty="0" err="1">
                    <a:highlight>
                      <a:srgbClr val="C0C0C0"/>
                    </a:highlight>
                  </a:rPr>
                  <a:t>compute_acceleration</a:t>
                </a:r>
                <a:r>
                  <a:rPr lang="en-US" sz="1800" noProof="0" dirty="0">
                    <a:highlight>
                      <a:srgbClr val="C0C0C0"/>
                    </a:highlight>
                  </a:rPr>
                  <a:t>()</a:t>
                </a:r>
                <a:r>
                  <a:rPr lang="en-US" sz="1800" noProof="0" dirty="0"/>
                  <a:t> : all-pairs force accumulation </a:t>
                </a:r>
                <a:r>
                  <a:rPr lang="en-US" sz="1800" b="1" noProof="0" dirty="0"/>
                  <a:t>O(N²).</a:t>
                </a:r>
                <a:endParaRPr lang="en-US" sz="1800" noProof="0" dirty="0">
                  <a:highlight>
                    <a:srgbClr val="C0C0C0"/>
                  </a:highlight>
                </a:endParaRPr>
              </a:p>
              <a:p>
                <a:pPr marL="914400" lvl="1" indent="-457200">
                  <a:lnSpc>
                    <a:spcPct val="160000"/>
                  </a:lnSpc>
                  <a:buFont typeface="+mj-lt"/>
                  <a:buAutoNum type="arabicPeriod"/>
                </a:pPr>
                <a:r>
                  <a:rPr lang="en-US" sz="1800" noProof="0" dirty="0"/>
                  <a:t>Time integration: </a:t>
                </a:r>
                <a:r>
                  <a:rPr lang="en-US" sz="1800" noProof="0" dirty="0" err="1">
                    <a:highlight>
                      <a:srgbClr val="C0C0C0"/>
                    </a:highlight>
                  </a:rPr>
                  <a:t>step_leapfrog</a:t>
                </a:r>
                <a:r>
                  <a:rPr lang="en-US" sz="1800" noProof="0" dirty="0">
                    <a:highlight>
                      <a:srgbClr val="C0C0C0"/>
                    </a:highlight>
                  </a:rPr>
                  <a:t>() </a:t>
                </a:r>
                <a:r>
                  <a:rPr lang="en-US" sz="1800" noProof="0" dirty="0"/>
                  <a:t>: update v(</a:t>
                </a:r>
                <a14:m>
                  <m:oMath xmlns:m="http://schemas.openxmlformats.org/officeDocument/2006/math">
                    <m:r>
                      <a:rPr lang="en-US" sz="14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1" noProof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400" noProof="0" dirty="0"/>
                  <a:t> )</a:t>
                </a:r>
                <a:r>
                  <a:rPr lang="en-US" sz="1800" noProof="0" dirty="0"/>
                  <a:t> (Velocity) → x(</a:t>
                </a:r>
                <a14:m>
                  <m:oMath xmlns:m="http://schemas.openxmlformats.org/officeDocument/2006/math">
                    <m:r>
                      <a:rPr lang="en-US" sz="14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800" noProof="0" dirty="0"/>
                  <a:t>) (Position) → a(</a:t>
                </a:r>
                <a14:m>
                  <m:oMath xmlns:m="http://schemas.openxmlformats.org/officeDocument/2006/math">
                    <m:r>
                      <a:rPr lang="en-US" sz="14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800" noProof="0" dirty="0"/>
                  <a:t>) (Acceleration) → v(</a:t>
                </a:r>
                <a14:m>
                  <m:oMath xmlns:m="http://schemas.openxmlformats.org/officeDocument/2006/math">
                    <m:r>
                      <a:rPr lang="en-US" sz="14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800" noProof="0" dirty="0"/>
                  <a:t>) (Leapfrog).</a:t>
                </a:r>
                <a:endParaRPr lang="en-US" sz="1800" noProof="0" dirty="0">
                  <a:highlight>
                    <a:srgbClr val="C0C0C0"/>
                  </a:highlight>
                </a:endParaRPr>
              </a:p>
              <a:p>
                <a:pPr marL="914400" lvl="1" indent="-457200">
                  <a:lnSpc>
                    <a:spcPct val="160000"/>
                  </a:lnSpc>
                  <a:buFont typeface="+mj-lt"/>
                  <a:buAutoNum type="arabicPeriod"/>
                </a:pPr>
                <a:r>
                  <a:rPr lang="en-US" sz="1800" noProof="0" dirty="0"/>
                  <a:t>Trajectory output: Periodic CSV dump (controlled by </a:t>
                </a:r>
                <a:r>
                  <a:rPr lang="en-US" sz="1800" noProof="0" dirty="0" err="1">
                    <a:highlight>
                      <a:srgbClr val="C0C0C0"/>
                    </a:highlight>
                  </a:rPr>
                  <a:t>dump_interval</a:t>
                </a:r>
                <a:r>
                  <a:rPr lang="en-US" sz="1800" noProof="0" dirty="0">
                    <a:highlight>
                      <a:srgbClr val="C0C0C0"/>
                    </a:highlight>
                  </a:rPr>
                  <a:t> </a:t>
                </a:r>
                <a:r>
                  <a:rPr lang="en-US" sz="1800" noProof="0" dirty="0"/>
                  <a:t>).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E2EC69B-89F2-A75D-4BB2-D6B82346E5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5082974"/>
              </a:xfrm>
              <a:blipFill>
                <a:blip r:embed="rId3"/>
                <a:stretch>
                  <a:fillRect l="-844" r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3218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FCFBE-7448-7684-89D2-16B4AA39D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02162E43-1AD4-C291-31E6-6135ACB4D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38AED26-33BF-C0A8-4B3A-291591AD1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Implementation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CD1937-496F-4AE0-834D-E62B775E4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82974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2400" b="1" noProof="0" dirty="0"/>
              <a:t>Execution </a:t>
            </a:r>
            <a:r>
              <a:rPr lang="en-US" sz="2400" b="1" dirty="0"/>
              <a:t>E</a:t>
            </a:r>
            <a:r>
              <a:rPr lang="en-US" sz="2400" b="1" noProof="0" dirty="0" err="1"/>
              <a:t>nvironments</a:t>
            </a:r>
            <a:endParaRPr lang="en-US" sz="2400" b="1" noProof="0" dirty="0"/>
          </a:p>
          <a:p>
            <a:pPr lvl="1">
              <a:lnSpc>
                <a:spcPct val="160000"/>
              </a:lnSpc>
            </a:pPr>
            <a:r>
              <a:rPr lang="en-US" sz="1800" noProof="0" dirty="0"/>
              <a:t>CPU demo: Origo Cluster</a:t>
            </a:r>
          </a:p>
          <a:p>
            <a:pPr lvl="1">
              <a:lnSpc>
                <a:spcPct val="160000"/>
              </a:lnSpc>
            </a:pPr>
            <a:r>
              <a:rPr lang="en-US" sz="1800" noProof="0" dirty="0"/>
              <a:t>GPU demo: Apollo Cluster</a:t>
            </a:r>
          </a:p>
          <a:p>
            <a:pPr>
              <a:lnSpc>
                <a:spcPct val="160000"/>
              </a:lnSpc>
            </a:pPr>
            <a:r>
              <a:rPr lang="en-US" sz="2000" b="1" noProof="0" dirty="0"/>
              <a:t>Input/Output</a:t>
            </a:r>
          </a:p>
          <a:p>
            <a:pPr lvl="1">
              <a:lnSpc>
                <a:spcPct val="160000"/>
              </a:lnSpc>
            </a:pPr>
            <a:r>
              <a:rPr lang="en-US" sz="1800" noProof="0" dirty="0"/>
              <a:t>Input: </a:t>
            </a:r>
          </a:p>
          <a:p>
            <a:pPr lvl="2">
              <a:lnSpc>
                <a:spcPct val="160000"/>
              </a:lnSpc>
            </a:pPr>
            <a:r>
              <a:rPr lang="en-US" sz="1600" noProof="0" dirty="0"/>
              <a:t>Simulation parameters (</a:t>
            </a:r>
            <a:r>
              <a:rPr lang="en-US" sz="1600" b="1" noProof="0" dirty="0"/>
              <a:t>N</a:t>
            </a:r>
            <a:r>
              <a:rPr lang="en-US" sz="1600" noProof="0" dirty="0"/>
              <a:t>: number of particles, </a:t>
            </a:r>
            <a:r>
              <a:rPr lang="en-US" sz="1600" b="1" noProof="0" dirty="0" err="1"/>
              <a:t>total_time</a:t>
            </a:r>
            <a:r>
              <a:rPr lang="en-US" sz="1600" noProof="0" dirty="0"/>
              <a:t>: total simulated time, </a:t>
            </a:r>
            <a:r>
              <a:rPr lang="en-US" sz="1600" b="1" noProof="0" dirty="0"/>
              <a:t>dt</a:t>
            </a:r>
            <a:r>
              <a:rPr lang="en-US" sz="1600" noProof="0" dirty="0"/>
              <a:t>: time step size, </a:t>
            </a:r>
            <a:r>
              <a:rPr lang="en-US" sz="1600" b="1" noProof="0" dirty="0" err="1"/>
              <a:t>dump_interval</a:t>
            </a:r>
            <a:r>
              <a:rPr lang="en-US" sz="1600" noProof="0" dirty="0"/>
              <a:t>: output frequency (in timesteps))</a:t>
            </a:r>
          </a:p>
          <a:p>
            <a:pPr lvl="2">
              <a:lnSpc>
                <a:spcPct val="160000"/>
              </a:lnSpc>
            </a:pPr>
            <a:r>
              <a:rPr lang="en-US" sz="1600" noProof="0" dirty="0"/>
              <a:t>Initial state (Position, Velocity, Mass) (per particle)</a:t>
            </a:r>
          </a:p>
          <a:p>
            <a:pPr lvl="1">
              <a:lnSpc>
                <a:spcPct val="160000"/>
              </a:lnSpc>
            </a:pPr>
            <a:r>
              <a:rPr lang="en-US" sz="1800" noProof="0" dirty="0"/>
              <a:t>Output: </a:t>
            </a:r>
          </a:p>
          <a:p>
            <a:pPr lvl="2">
              <a:lnSpc>
                <a:spcPct val="160000"/>
              </a:lnSpc>
            </a:pPr>
            <a:r>
              <a:rPr lang="en-US" sz="1600" noProof="0" dirty="0"/>
              <a:t>Trajectory data (Positions and velocities of all particles over time).</a:t>
            </a:r>
          </a:p>
        </p:txBody>
      </p:sp>
    </p:spTree>
    <p:extLst>
      <p:ext uri="{BB962C8B-B14F-4D97-AF65-F5344CB8AC3E}">
        <p14:creationId xmlns:p14="http://schemas.microsoft.com/office/powerpoint/2010/main" val="4031111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73996920-ECFB-FAE6-3117-7C84B49F8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Serial CPU Optimization</a:t>
            </a:r>
          </a:p>
        </p:txBody>
      </p:sp>
      <p:pic>
        <p:nvPicPr>
          <p:cNvPr id="6" name="內容版面配置區 5" descr="一張含有 文字, 螢幕擷取畫面, 圖表, Rectangle 的圖片&#10;&#10;自動產生的描述">
            <a:extLst>
              <a:ext uri="{FF2B5EF4-FFF2-40B4-BE49-F238E27FC236}">
                <a16:creationId xmlns:a16="http://schemas.microsoft.com/office/drawing/2014/main" id="{1E4CE9E2-95B2-AF7B-343F-DCE395AB8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39" y="1690688"/>
            <a:ext cx="6562925" cy="3937755"/>
          </a:xfrm>
          <a:ln w="28575">
            <a:solidFill>
              <a:schemeClr val="tx1"/>
            </a:solidFill>
          </a:ln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E11175D-54FF-FB59-B36F-8741A98B6034}"/>
              </a:ext>
            </a:extLst>
          </p:cNvPr>
          <p:cNvSpPr txBox="1"/>
          <p:nvPr/>
        </p:nvSpPr>
        <p:spPr>
          <a:xfrm>
            <a:off x="7062240" y="1323635"/>
            <a:ext cx="5015883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noProof="0" dirty="0">
                <a:solidFill>
                  <a:srgbClr val="4C72B0"/>
                </a:solidFill>
              </a:rPr>
              <a:t>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Naive serial implementation, </a:t>
            </a:r>
            <a:r>
              <a:rPr lang="en-US" noProof="0" dirty="0" err="1"/>
              <a:t>AoS</a:t>
            </a:r>
            <a:r>
              <a:rPr lang="en-US" noProof="0" dirty="0"/>
              <a:t> </a:t>
            </a:r>
            <a:r>
              <a:rPr lang="en-US" noProof="0" dirty="0" err="1"/>
              <a:t>DataStruct</a:t>
            </a:r>
            <a:r>
              <a:rPr lang="en-US" noProof="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Used as </a:t>
            </a:r>
            <a:r>
              <a:rPr lang="en-US" b="1" noProof="0" dirty="0"/>
              <a:t>baseline (1.00×).</a:t>
            </a:r>
          </a:p>
          <a:p>
            <a:r>
              <a:rPr lang="en-US" sz="2000" noProof="0" dirty="0">
                <a:solidFill>
                  <a:srgbClr val="55A868"/>
                </a:solidFill>
              </a:rPr>
              <a:t>SIMD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Use </a:t>
            </a:r>
            <a:r>
              <a:rPr lang="en-US" b="1" noProof="0" dirty="0"/>
              <a:t>vector instructions (SSE2)</a:t>
            </a:r>
            <a:r>
              <a:rPr lang="en-US" noProof="0" dirty="0"/>
              <a:t> to compute multiple interactions per iteration.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Improve instruction-level parallelism.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~</a:t>
            </a:r>
            <a:r>
              <a:rPr lang="en-US" b="1" noProof="0" dirty="0"/>
              <a:t>1.9× speedup.</a:t>
            </a:r>
            <a:endParaRPr lang="en-US" noProof="0" dirty="0"/>
          </a:p>
          <a:p>
            <a:r>
              <a:rPr lang="en-US" sz="2000" noProof="0" dirty="0">
                <a:solidFill>
                  <a:srgbClr val="C44E52"/>
                </a:solidFill>
              </a:rPr>
              <a:t>SIMD + Unroll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Further </a:t>
            </a:r>
            <a:r>
              <a:rPr lang="en-US" b="1" noProof="0" dirty="0"/>
              <a:t>loop unrolling</a:t>
            </a:r>
            <a:r>
              <a:rPr lang="en-US" noProof="0" dirty="0"/>
              <a:t> to reduce loop overhead.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Better instruction scheduling and pipeline utilization.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Slight additional speedup over SIMD.</a:t>
            </a:r>
          </a:p>
          <a:p>
            <a:r>
              <a:rPr lang="en-US" sz="2000" noProof="0" dirty="0">
                <a:solidFill>
                  <a:srgbClr val="8172B3"/>
                </a:solidFill>
              </a:rPr>
              <a:t>OMP (1 Core)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Enable OpenMP but restrict to </a:t>
            </a:r>
            <a:r>
              <a:rPr lang="en-US" b="1" noProof="0" dirty="0"/>
              <a:t>single thread.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Performance slightly better due to compiler optimization.</a:t>
            </a:r>
          </a:p>
        </p:txBody>
      </p:sp>
    </p:spTree>
    <p:extLst>
      <p:ext uri="{BB962C8B-B14F-4D97-AF65-F5344CB8AC3E}">
        <p14:creationId xmlns:p14="http://schemas.microsoft.com/office/powerpoint/2010/main" val="910216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954DCB0E-2F98-42F2-EA3C-AC11BE3A3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58F3049-8A63-16A9-8DB6-966C043F4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Profiling (N = 4096)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850F78-6813-852A-AA31-D5D558DD5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sz="2400" dirty="0"/>
              <a:t>Profiler</a:t>
            </a:r>
            <a:r>
              <a:rPr lang="en-US" sz="2400" noProof="0" dirty="0"/>
              <a:t>: </a:t>
            </a:r>
            <a:r>
              <a:rPr lang="en-US" sz="2400" noProof="0" dirty="0" err="1"/>
              <a:t>gprof</a:t>
            </a:r>
            <a:endParaRPr lang="en-US" sz="2400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endParaRPr lang="en-US" noProof="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8D53A69-562E-DB86-4050-15F6390EC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81182"/>
            <a:ext cx="4671515" cy="124724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3E3AF3E-5502-BA5E-8720-92996E109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277" y="2385140"/>
            <a:ext cx="4511197" cy="131076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C5266A1-7484-CD82-6A2B-0CBF413832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763368"/>
            <a:ext cx="4671515" cy="135587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FB5D02A-359F-44B0-CB46-4D0AC2C79B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9277" y="3763368"/>
            <a:ext cx="4551712" cy="1310760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97C18EA0-53D6-7874-E146-61775B258EBE}"/>
              </a:ext>
            </a:extLst>
          </p:cNvPr>
          <p:cNvSpPr txBox="1"/>
          <p:nvPr/>
        </p:nvSpPr>
        <p:spPr>
          <a:xfrm>
            <a:off x="838199" y="5141596"/>
            <a:ext cx="10515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noProof="0" dirty="0"/>
              <a:t>Observation: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noProof="0" dirty="0" err="1">
                <a:highlight>
                  <a:srgbClr val="C0C0C0"/>
                </a:highlight>
              </a:rPr>
              <a:t>compute_acceleration</a:t>
            </a:r>
            <a:r>
              <a:rPr lang="en-US" sz="2000" noProof="0" dirty="0">
                <a:highlight>
                  <a:srgbClr val="C0C0C0"/>
                </a:highlight>
              </a:rPr>
              <a:t>() </a:t>
            </a:r>
            <a:r>
              <a:rPr lang="en-US" sz="2000" noProof="0" dirty="0"/>
              <a:t>dominates runtime. Other components are </a:t>
            </a:r>
            <a:r>
              <a:rPr lang="en-US" sz="2000" b="1" noProof="0" dirty="0"/>
              <a:t>negligible.</a:t>
            </a:r>
            <a:endParaRPr lang="en-US" sz="2000" noProof="0" dirty="0"/>
          </a:p>
          <a:p>
            <a:r>
              <a:rPr lang="en-US" sz="2000" noProof="0" dirty="0"/>
              <a:t>Key Takeaways: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Performance improvement comes almost entirely from </a:t>
            </a:r>
            <a:r>
              <a:rPr lang="en-US" b="1" noProof="0" dirty="0"/>
              <a:t>optimizing the O(N²) force computation.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Loop unrolling shows </a:t>
            </a:r>
            <a:r>
              <a:rPr lang="en-US" b="1" noProof="0" dirty="0"/>
              <a:t>diminishing returns</a:t>
            </a:r>
            <a:r>
              <a:rPr lang="en-US" noProof="0" dirty="0"/>
              <a:t> beyond a certain point</a:t>
            </a:r>
          </a:p>
        </p:txBody>
      </p:sp>
    </p:spTree>
    <p:extLst>
      <p:ext uri="{BB962C8B-B14F-4D97-AF65-F5344CB8AC3E}">
        <p14:creationId xmlns:p14="http://schemas.microsoft.com/office/powerpoint/2010/main" val="3449397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401197D7-792E-4E7C-0998-59DC454CB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9896524-BAC0-D9C2-D7DA-54570A60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Speedup Table</a:t>
            </a: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BF98406B-3C0E-D8DD-21B8-98D65F7752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1514525"/>
              </p:ext>
            </p:extLst>
          </p:nvPr>
        </p:nvGraphicFramePr>
        <p:xfrm>
          <a:off x="1150860" y="2068283"/>
          <a:ext cx="9890280" cy="2986697"/>
        </p:xfrm>
        <a:graphic>
          <a:graphicData uri="http://schemas.openxmlformats.org/drawingml/2006/table">
            <a:tbl>
              <a:tblPr/>
              <a:tblGrid>
                <a:gridCol w="1978056">
                  <a:extLst>
                    <a:ext uri="{9D8B030D-6E8A-4147-A177-3AD203B41FA5}">
                      <a16:colId xmlns:a16="http://schemas.microsoft.com/office/drawing/2014/main" val="1385940312"/>
                    </a:ext>
                  </a:extLst>
                </a:gridCol>
                <a:gridCol w="1978056">
                  <a:extLst>
                    <a:ext uri="{9D8B030D-6E8A-4147-A177-3AD203B41FA5}">
                      <a16:colId xmlns:a16="http://schemas.microsoft.com/office/drawing/2014/main" val="149071964"/>
                    </a:ext>
                  </a:extLst>
                </a:gridCol>
                <a:gridCol w="1978056">
                  <a:extLst>
                    <a:ext uri="{9D8B030D-6E8A-4147-A177-3AD203B41FA5}">
                      <a16:colId xmlns:a16="http://schemas.microsoft.com/office/drawing/2014/main" val="2238211463"/>
                    </a:ext>
                  </a:extLst>
                </a:gridCol>
                <a:gridCol w="1978056">
                  <a:extLst>
                    <a:ext uri="{9D8B030D-6E8A-4147-A177-3AD203B41FA5}">
                      <a16:colId xmlns:a16="http://schemas.microsoft.com/office/drawing/2014/main" val="1607399349"/>
                    </a:ext>
                  </a:extLst>
                </a:gridCol>
                <a:gridCol w="1978056">
                  <a:extLst>
                    <a:ext uri="{9D8B030D-6E8A-4147-A177-3AD203B41FA5}">
                      <a16:colId xmlns:a16="http://schemas.microsoft.com/office/drawing/2014/main" val="1800734347"/>
                    </a:ext>
                  </a:extLst>
                </a:gridCol>
              </a:tblGrid>
              <a:tr h="582825"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Version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Time (s)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Step Speedup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Cumulative Speedup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說明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984347"/>
                  </a:ext>
                </a:extLst>
              </a:tr>
              <a:tr h="360796"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Base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574.83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—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1.00x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Baseline (</a:t>
                      </a:r>
                      <a:r>
                        <a:rPr lang="en-US" sz="1600" noProof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原始版本</a:t>
                      </a:r>
                      <a:r>
                        <a:rPr lang="en-US" sz="1600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281052"/>
                  </a:ext>
                </a:extLst>
              </a:tr>
              <a:tr h="572762"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SIMD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300.52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1.91x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1.91x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noProof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加入</a:t>
                      </a:r>
                      <a:r>
                        <a:rPr lang="en-US" sz="1600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SSE </a:t>
                      </a:r>
                      <a:r>
                        <a:rPr lang="en-US" sz="1600" noProof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向量化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091638"/>
                  </a:ext>
                </a:extLst>
              </a:tr>
              <a:tr h="804853"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SIMD + Unroll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298.23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1.01x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1.93x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noProof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額外進行</a:t>
                      </a:r>
                      <a:r>
                        <a:rPr lang="en-US" sz="1600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Loop Unrolling (</a:t>
                      </a:r>
                      <a:r>
                        <a:rPr lang="en-US" sz="1600" noProof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提升微小</a:t>
                      </a:r>
                      <a:r>
                        <a:rPr lang="en-US" sz="1600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29939"/>
                  </a:ext>
                </a:extLst>
              </a:tr>
              <a:tr h="572762"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OMP (1 Core)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275.50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1.08x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2.09x</a:t>
                      </a:r>
                      <a:endParaRPr lang="en-US" sz="1600" noProof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noProof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OpenMP (-c1)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230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738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OpenMP Strong Scalability</a:t>
            </a:r>
          </a:p>
        </p:txBody>
      </p:sp>
      <p:pic>
        <p:nvPicPr>
          <p:cNvPr id="6" name="內容版面配置區 5" descr="一張含有 文字, 圖表, 行, 繪圖 的圖片&#10;&#10;自動產生的描述">
            <a:extLst>
              <a:ext uri="{FF2B5EF4-FFF2-40B4-BE49-F238E27FC236}">
                <a16:creationId xmlns:a16="http://schemas.microsoft.com/office/drawing/2014/main" id="{C4EAC929-E3BB-7FFB-0D65-76B753D8C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13" y="1690688"/>
            <a:ext cx="5894772" cy="2947386"/>
          </a:xfrm>
          <a:ln w="28575">
            <a:solidFill>
              <a:schemeClr val="tx1"/>
            </a:solidFill>
          </a:ln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4E38A49-3203-5539-D88D-99B64C6C11AD}"/>
              </a:ext>
            </a:extLst>
          </p:cNvPr>
          <p:cNvSpPr txBox="1"/>
          <p:nvPr/>
        </p:nvSpPr>
        <p:spPr>
          <a:xfrm>
            <a:off x="6328299" y="1690688"/>
            <a:ext cx="586370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Execution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Runtime decreases significantly as core count increases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From ~275 s (1 core) to ~28 s (12 cores)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Speedup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Achieves near-linear speedup up to moderate core counts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~</a:t>
            </a:r>
            <a:r>
              <a:rPr lang="en-US" b="1" noProof="0" dirty="0"/>
              <a:t>9.8× speedup</a:t>
            </a:r>
            <a:r>
              <a:rPr lang="en-US" noProof="0" dirty="0"/>
              <a:t> on 12 cores (ideal: 12×)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Reasons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noProof="0" dirty="0"/>
              <a:t>Workload dominated by </a:t>
            </a:r>
            <a:r>
              <a:rPr lang="en-US" b="1" noProof="0" dirty="0"/>
              <a:t>O(N²) </a:t>
            </a:r>
            <a:r>
              <a:rPr lang="en-US" noProof="0" dirty="0" err="1">
                <a:highlight>
                  <a:srgbClr val="C0C0C0"/>
                </a:highlight>
              </a:rPr>
              <a:t>compute_acceleration</a:t>
            </a:r>
            <a:endParaRPr lang="en-US" noProof="0" dirty="0">
              <a:highlight>
                <a:srgbClr val="C0C0C0"/>
              </a:highlight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noProof="0" dirty="0"/>
              <a:t>Minimal synchronization and OpenMP overhead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Limitations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Deviation from ideal scaling due to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noProof="0" dirty="0"/>
              <a:t>Memory bandwidth contention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noProof="0" dirty="0"/>
              <a:t>OpenMP scheduling and synchronization overhead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F2D67A1-39B8-DDBD-8CC3-9BBE597198CB}"/>
              </a:ext>
            </a:extLst>
          </p:cNvPr>
          <p:cNvSpPr txBox="1"/>
          <p:nvPr/>
        </p:nvSpPr>
        <p:spPr>
          <a:xfrm>
            <a:off x="298313" y="4638074"/>
            <a:ext cx="5557221" cy="1715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noProof="0" dirty="0"/>
              <a:t>Setup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noProof="0" dirty="0"/>
              <a:t>Fixed problem size (</a:t>
            </a:r>
            <a:r>
              <a:rPr lang="en-US" b="1" noProof="0" dirty="0"/>
              <a:t>N = 4096</a:t>
            </a:r>
            <a:r>
              <a:rPr lang="en-US" noProof="0" dirty="0"/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noProof="0" dirty="0"/>
              <a:t>Vary number of CPU cores (1 → 12)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noProof="0" dirty="0"/>
              <a:t>Measure </a:t>
            </a:r>
            <a:r>
              <a:rPr lang="en-US" b="1" noProof="0" dirty="0"/>
              <a:t>strong scalability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67192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Hybrid Strong Scalability</a:t>
            </a:r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9ACC355A-6337-7B38-74F7-F384739BE0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7414939"/>
              </p:ext>
            </p:extLst>
          </p:nvPr>
        </p:nvGraphicFramePr>
        <p:xfrm>
          <a:off x="232300" y="1690688"/>
          <a:ext cx="5626962" cy="4449903"/>
        </p:xfrm>
        <a:graphic>
          <a:graphicData uri="http://schemas.openxmlformats.org/drawingml/2006/table">
            <a:tbl>
              <a:tblPr/>
              <a:tblGrid>
                <a:gridCol w="937827">
                  <a:extLst>
                    <a:ext uri="{9D8B030D-6E8A-4147-A177-3AD203B41FA5}">
                      <a16:colId xmlns:a16="http://schemas.microsoft.com/office/drawing/2014/main" val="1230688174"/>
                    </a:ext>
                  </a:extLst>
                </a:gridCol>
                <a:gridCol w="937827">
                  <a:extLst>
                    <a:ext uri="{9D8B030D-6E8A-4147-A177-3AD203B41FA5}">
                      <a16:colId xmlns:a16="http://schemas.microsoft.com/office/drawing/2014/main" val="2446392544"/>
                    </a:ext>
                  </a:extLst>
                </a:gridCol>
                <a:gridCol w="937827">
                  <a:extLst>
                    <a:ext uri="{9D8B030D-6E8A-4147-A177-3AD203B41FA5}">
                      <a16:colId xmlns:a16="http://schemas.microsoft.com/office/drawing/2014/main" val="3980149363"/>
                    </a:ext>
                  </a:extLst>
                </a:gridCol>
                <a:gridCol w="937827">
                  <a:extLst>
                    <a:ext uri="{9D8B030D-6E8A-4147-A177-3AD203B41FA5}">
                      <a16:colId xmlns:a16="http://schemas.microsoft.com/office/drawing/2014/main" val="809108414"/>
                    </a:ext>
                  </a:extLst>
                </a:gridCol>
                <a:gridCol w="937827">
                  <a:extLst>
                    <a:ext uri="{9D8B030D-6E8A-4147-A177-3AD203B41FA5}">
                      <a16:colId xmlns:a16="http://schemas.microsoft.com/office/drawing/2014/main" val="3498731255"/>
                    </a:ext>
                  </a:extLst>
                </a:gridCol>
                <a:gridCol w="937827">
                  <a:extLst>
                    <a:ext uri="{9D8B030D-6E8A-4147-A177-3AD203B41FA5}">
                      <a16:colId xmlns:a16="http://schemas.microsoft.com/office/drawing/2014/main" val="568290910"/>
                    </a:ext>
                  </a:extLst>
                </a:gridCol>
              </a:tblGrid>
              <a:tr h="267627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Configuration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Total Cores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Time (s)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Speedup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Efficiency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說明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946136"/>
                  </a:ext>
                </a:extLst>
              </a:tr>
              <a:tr h="267627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1N x 4C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74.20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3.71x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92.8%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單節點基準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752877"/>
                  </a:ext>
                </a:extLst>
              </a:tr>
              <a:tr h="267627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1N x 8C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41.83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6.59x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82.3%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09258"/>
                  </a:ext>
                </a:extLst>
              </a:tr>
              <a:tr h="440768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1N x 12C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28.99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9.50x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79.2%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單節點最強效能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387998"/>
                  </a:ext>
                </a:extLst>
              </a:tr>
              <a:tr h="440768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2N x 4C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38.83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7.10x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88.7%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跨節點</a:t>
                      </a:r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</a:t>
                      </a:r>
                      <a:r>
                        <a:rPr lang="en-US" sz="1050" noProof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低通訊壓力</a:t>
                      </a:r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988056"/>
                  </a:ext>
                </a:extLst>
              </a:tr>
              <a:tr h="267627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2N x 8C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27.26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10.11x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63.2%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62491"/>
                  </a:ext>
                </a:extLst>
              </a:tr>
              <a:tr h="267627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2N x 12C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16.41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16.79x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70.0%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雙節點滿載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425396"/>
                  </a:ext>
                </a:extLst>
              </a:tr>
              <a:tr h="267627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3N x 4C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27.14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10.15x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84.6%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553377"/>
                  </a:ext>
                </a:extLst>
              </a:tr>
              <a:tr h="267627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3N x 8C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17.74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15.53x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64.7%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855298"/>
                  </a:ext>
                </a:extLst>
              </a:tr>
              <a:tr h="440768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3N x 12C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36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13.99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19.69x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54.7%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效率開始下降</a:t>
                      </a:r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</a:t>
                      </a:r>
                      <a:r>
                        <a:rPr lang="en-US" sz="1050" noProof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通訊佔比增高</a:t>
                      </a:r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431868"/>
                  </a:ext>
                </a:extLst>
              </a:tr>
              <a:tr h="267627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4N x 4C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21.30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12.93x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80.8%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914854"/>
                  </a:ext>
                </a:extLst>
              </a:tr>
              <a:tr h="267627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4N x 8C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32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14.35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19.20x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60.0%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388781"/>
                  </a:ext>
                </a:extLst>
              </a:tr>
              <a:tr h="440768"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4N x 12C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48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11.74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23.47x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48.9%</a:t>
                      </a: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050" b="1" noProof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最高效能</a:t>
                      </a:r>
                      <a:r>
                        <a:rPr lang="en-US" sz="1050" b="1" noProof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(Peak Speedup)</a:t>
                      </a:r>
                      <a:endParaRPr lang="en-US" sz="1050" noProof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4851" marR="74851" marT="49901" marB="49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658564"/>
                  </a:ext>
                </a:extLst>
              </a:tr>
            </a:tbl>
          </a:graphicData>
        </a:graphic>
      </p:graphicFrame>
      <p:pic>
        <p:nvPicPr>
          <p:cNvPr id="7" name="圖片 6" descr="一張含有 文字, 行, 繪圖, 圖表 的圖片&#10;&#10;自動產生的描述">
            <a:extLst>
              <a:ext uri="{FF2B5EF4-FFF2-40B4-BE49-F238E27FC236}">
                <a16:creationId xmlns:a16="http://schemas.microsoft.com/office/drawing/2014/main" id="{2BE4DBBE-F1C7-7E2A-8EDE-0D5515A82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465" y="1027906"/>
            <a:ext cx="4248335" cy="254900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圖片 8" descr="一張含有 文字, 螢幕擷取畫面, 圖表, 繪圖 的圖片&#10;&#10;自動產生的描述">
            <a:extLst>
              <a:ext uri="{FF2B5EF4-FFF2-40B4-BE49-F238E27FC236}">
                <a16:creationId xmlns:a16="http://schemas.microsoft.com/office/drawing/2014/main" id="{3540735F-A40B-692C-FEBD-006C97CAE3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150" y="3679394"/>
            <a:ext cx="5626962" cy="281348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82798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Execution Time Breakdown (MPI + OpenMP, N = 4096)</a:t>
            </a:r>
          </a:p>
        </p:txBody>
      </p:sp>
      <p:pic>
        <p:nvPicPr>
          <p:cNvPr id="6" name="內容版面配置區 5" descr="一張含有 文字, 螢幕擷取畫面 的圖片&#10;&#10;自動產生的描述">
            <a:extLst>
              <a:ext uri="{FF2B5EF4-FFF2-40B4-BE49-F238E27FC236}">
                <a16:creationId xmlns:a16="http://schemas.microsoft.com/office/drawing/2014/main" id="{47D3CCA7-6E6A-487C-CA22-2ACAE76272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40707"/>
            <a:ext cx="10515600" cy="4321173"/>
          </a:xfrm>
        </p:spPr>
      </p:pic>
    </p:spTree>
    <p:extLst>
      <p:ext uri="{BB962C8B-B14F-4D97-AF65-F5344CB8AC3E}">
        <p14:creationId xmlns:p14="http://schemas.microsoft.com/office/powerpoint/2010/main" val="409386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CUDA and GPU Implementations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9F0C62-2C1E-95C1-C583-9AD78DECC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noProof="0" dirty="0"/>
              <a:t>Baseline Version (Baseline)</a:t>
            </a:r>
          </a:p>
          <a:p>
            <a:pPr>
              <a:lnSpc>
                <a:spcPct val="150000"/>
              </a:lnSpc>
            </a:pPr>
            <a:r>
              <a:rPr lang="en-US" sz="2000" noProof="0" dirty="0"/>
              <a:t>Baseline w/ Shared Memory using Tiled Block of Size 256 (SM, B=256)</a:t>
            </a:r>
          </a:p>
          <a:p>
            <a:pPr>
              <a:lnSpc>
                <a:spcPct val="150000"/>
              </a:lnSpc>
            </a:pPr>
            <a:r>
              <a:rPr lang="en-US" sz="2000" noProof="0" dirty="0"/>
              <a:t>SM w/ Structure of Arrays Memory Storage Pattern (</a:t>
            </a:r>
            <a:r>
              <a:rPr lang="en-US" sz="2000" noProof="0" dirty="0" err="1"/>
              <a:t>SoA</a:t>
            </a:r>
            <a:r>
              <a:rPr lang="en-US" sz="2000" noProof="0" dirty="0"/>
              <a:t>, B=256)</a:t>
            </a:r>
          </a:p>
          <a:p>
            <a:pPr>
              <a:lnSpc>
                <a:spcPct val="150000"/>
              </a:lnSpc>
            </a:pPr>
            <a:r>
              <a:rPr lang="en-US" sz="2000" noProof="0" dirty="0" err="1"/>
              <a:t>SoA</a:t>
            </a:r>
            <a:r>
              <a:rPr lang="en-US" sz="2000" noProof="0" dirty="0"/>
              <a:t> w/ Tiled Block Size Tuning (</a:t>
            </a:r>
            <a:r>
              <a:rPr lang="en-US" sz="2000" noProof="0" dirty="0" err="1"/>
              <a:t>SoA</a:t>
            </a:r>
            <a:r>
              <a:rPr lang="en-US" sz="2000" noProof="0" dirty="0"/>
              <a:t>, B=64)</a:t>
            </a:r>
          </a:p>
          <a:p>
            <a:pPr>
              <a:lnSpc>
                <a:spcPct val="150000"/>
              </a:lnSpc>
            </a:pPr>
            <a:r>
              <a:rPr lang="en-US" sz="2000" noProof="0" dirty="0"/>
              <a:t>CUDA version directly ported to AMD HIP version (AMD-Ported)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Profiled w/ </a:t>
            </a:r>
            <a:r>
              <a:rPr lang="en-US" sz="2000" dirty="0" err="1"/>
              <a:t>nvprof</a:t>
            </a:r>
            <a:r>
              <a:rPr lang="en-US" sz="2000" dirty="0"/>
              <a:t> at N = 2048</a:t>
            </a:r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20829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GPU</a:t>
            </a:r>
            <a:r>
              <a:rPr lang="zh-TW" altLang="en-US" noProof="0" dirty="0"/>
              <a:t> </a:t>
            </a:r>
            <a:r>
              <a:rPr lang="en-US" altLang="zh-TW" noProof="0" dirty="0"/>
              <a:t>Baseline</a:t>
            </a:r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CBDBB26B-259A-4802-8801-7036365096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TW" dirty="0"/>
                  <a:t>U</a:t>
                </a:r>
                <a:r>
                  <a:rPr lang="en-US" altLang="zh-TW" sz="2800" noProof="0" dirty="0" err="1"/>
                  <a:t>pdate</a:t>
                </a:r>
                <a:r>
                  <a:rPr lang="en-US" altLang="zh-TW" sz="2800" noProof="0" dirty="0"/>
                  <a:t> v(</a:t>
                </a:r>
                <a14:m>
                  <m:oMath xmlns:m="http://schemas.openxmlformats.org/officeDocument/2006/math">
                    <m:r>
                      <a:rPr lang="en-US" altLang="zh-TW" sz="20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000" i="1" noProof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TW" sz="20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0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noProof="0" dirty="0"/>
                  <a:t> )</a:t>
                </a:r>
                <a:r>
                  <a:rPr lang="en-US" altLang="zh-TW" sz="2800" noProof="0" dirty="0"/>
                  <a:t> (Velocity) → x(</a:t>
                </a:r>
                <a14:m>
                  <m:oMath xmlns:m="http://schemas.openxmlformats.org/officeDocument/2006/math">
                    <m:r>
                      <a:rPr lang="en-US" altLang="zh-TW" sz="20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00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TW" sz="2800" noProof="0" dirty="0"/>
                  <a:t>) (Position) </a:t>
                </a:r>
                <a:r>
                  <a:rPr lang="en-US" altLang="zh-TW" noProof="0" dirty="0"/>
                  <a:t>→ a(</a:t>
                </a:r>
                <a14:m>
                  <m:oMath xmlns:m="http://schemas.openxmlformats.org/officeDocument/2006/math">
                    <m:r>
                      <a:rPr lang="en-US" altLang="zh-TW" sz="16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160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TW" noProof="0" dirty="0"/>
                  <a:t>) (Acceleration)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noProof="0" dirty="0"/>
                  <a:t>→ v(</a:t>
                </a:r>
                <a14:m>
                  <m:oMath xmlns:m="http://schemas.openxmlformats.org/officeDocument/2006/math">
                    <m:r>
                      <a:rPr lang="en-US" altLang="zh-TW" sz="16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160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TW" noProof="0" dirty="0"/>
                  <a:t>) (Leapfrog).</a:t>
                </a:r>
                <a:endParaRPr lang="en-US" altLang="zh-TW" noProof="0" dirty="0">
                  <a:highlight>
                    <a:srgbClr val="C0C0C0"/>
                  </a:highlight>
                </a:endParaRPr>
              </a:p>
              <a:p>
                <a:pPr>
                  <a:lnSpc>
                    <a:spcPct val="150000"/>
                  </a:lnSpc>
                </a:pPr>
                <a:endParaRPr lang="zh-TW" altLang="en-US" dirty="0"/>
              </a:p>
            </p:txBody>
          </p:sp>
        </mc:Choice>
        <mc:Fallback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CBDBB26B-259A-4802-8801-7036365096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圖片 7">
            <a:extLst>
              <a:ext uri="{FF2B5EF4-FFF2-40B4-BE49-F238E27FC236}">
                <a16:creationId xmlns:a16="http://schemas.microsoft.com/office/drawing/2014/main" id="{B8437DF8-21AF-4BCF-876E-DE3F1EB49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423" y="3338623"/>
            <a:ext cx="9297154" cy="330049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3C5B533-7BD7-4531-B01F-85695AADBF13}"/>
              </a:ext>
            </a:extLst>
          </p:cNvPr>
          <p:cNvSpPr/>
          <p:nvPr/>
        </p:nvSpPr>
        <p:spPr>
          <a:xfrm>
            <a:off x="2202399" y="2004456"/>
            <a:ext cx="5307106" cy="47830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119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GPU</a:t>
            </a:r>
            <a:r>
              <a:rPr lang="zh-TW" altLang="en-US" noProof="0" dirty="0"/>
              <a:t> </a:t>
            </a:r>
            <a:r>
              <a:rPr lang="en-US" altLang="zh-TW" noProof="0" dirty="0"/>
              <a:t>Baseline</a:t>
            </a:r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CBDBB26B-259A-4802-8801-7036365096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TW" dirty="0"/>
                  <a:t>U</a:t>
                </a:r>
                <a:r>
                  <a:rPr lang="en-US" altLang="zh-TW" sz="2800" noProof="0" dirty="0" err="1"/>
                  <a:t>pdate</a:t>
                </a:r>
                <a:r>
                  <a:rPr lang="en-US" altLang="zh-TW" sz="2800" noProof="0" dirty="0"/>
                  <a:t> v(</a:t>
                </a:r>
                <a14:m>
                  <m:oMath xmlns:m="http://schemas.openxmlformats.org/officeDocument/2006/math">
                    <m:r>
                      <a:rPr lang="en-US" altLang="zh-TW" sz="20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000" i="1" noProof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TW" sz="20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0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noProof="0" dirty="0"/>
                  <a:t> )</a:t>
                </a:r>
                <a:r>
                  <a:rPr lang="en-US" altLang="zh-TW" sz="2800" noProof="0" dirty="0"/>
                  <a:t> (Velocity)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800" noProof="0" dirty="0"/>
                  <a:t>→ x(</a:t>
                </a:r>
                <a14:m>
                  <m:oMath xmlns:m="http://schemas.openxmlformats.org/officeDocument/2006/math">
                    <m:r>
                      <a:rPr lang="en-US" altLang="zh-TW" sz="20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00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TW" sz="2800" noProof="0" dirty="0"/>
                  <a:t>) (Position)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800" noProof="0" dirty="0"/>
                  <a:t>→ a(</a:t>
                </a:r>
                <a14:m>
                  <m:oMath xmlns:m="http://schemas.openxmlformats.org/officeDocument/2006/math">
                    <m:r>
                      <a:rPr lang="en-US" altLang="zh-TW" sz="20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00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TW" sz="2800" noProof="0" dirty="0"/>
                  <a:t>) (Acceleration)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800" noProof="0" dirty="0"/>
                  <a:t>→ v(</a:t>
                </a:r>
                <a14:m>
                  <m:oMath xmlns:m="http://schemas.openxmlformats.org/officeDocument/2006/math">
                    <m:r>
                      <a:rPr lang="en-US" altLang="zh-TW" sz="20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00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TW" sz="2800" noProof="0" dirty="0"/>
                  <a:t>) (Leapfrog).</a:t>
                </a:r>
                <a:endParaRPr lang="en-US" altLang="zh-TW" sz="2800" noProof="0" dirty="0">
                  <a:highlight>
                    <a:srgbClr val="C0C0C0"/>
                  </a:highlight>
                </a:endParaRPr>
              </a:p>
              <a:p>
                <a:pPr>
                  <a:lnSpc>
                    <a:spcPct val="150000"/>
                  </a:lnSpc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CBDBB26B-259A-4802-8801-7036365096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圖片 9">
            <a:extLst>
              <a:ext uri="{FF2B5EF4-FFF2-40B4-BE49-F238E27FC236}">
                <a16:creationId xmlns:a16="http://schemas.microsoft.com/office/drawing/2014/main" id="{E320FD06-87FD-4A14-BDF4-DA87E96ED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741" y="1236108"/>
            <a:ext cx="6526551" cy="509026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182F9E5-F0B1-48D0-82A1-27B3D00DBCA4}"/>
              </a:ext>
            </a:extLst>
          </p:cNvPr>
          <p:cNvSpPr/>
          <p:nvPr/>
        </p:nvSpPr>
        <p:spPr>
          <a:xfrm>
            <a:off x="838200" y="3542087"/>
            <a:ext cx="3483429" cy="47830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框架 2">
            <a:extLst>
              <a:ext uri="{FF2B5EF4-FFF2-40B4-BE49-F238E27FC236}">
                <a16:creationId xmlns:a16="http://schemas.microsoft.com/office/drawing/2014/main" id="{C496F952-9FB0-B781-3B2F-9718AC5332A7}"/>
              </a:ext>
            </a:extLst>
          </p:cNvPr>
          <p:cNvSpPr/>
          <p:nvPr/>
        </p:nvSpPr>
        <p:spPr>
          <a:xfrm>
            <a:off x="6270172" y="4256314"/>
            <a:ext cx="3058885" cy="228600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1159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GPU</a:t>
            </a:r>
            <a:r>
              <a:rPr lang="zh-TW" altLang="en-US" noProof="0" dirty="0"/>
              <a:t> </a:t>
            </a:r>
            <a:r>
              <a:rPr lang="en-US" altLang="zh-TW" noProof="0" dirty="0"/>
              <a:t>Baseline</a:t>
            </a:r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CBDBB26B-259A-4802-8801-7036365096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TW" dirty="0"/>
                  <a:t>U</a:t>
                </a:r>
                <a:r>
                  <a:rPr lang="en-US" altLang="zh-TW" sz="2800" noProof="0" dirty="0" err="1"/>
                  <a:t>pdate</a:t>
                </a:r>
                <a:r>
                  <a:rPr lang="en-US" altLang="zh-TW" sz="2800" noProof="0" dirty="0"/>
                  <a:t> v(</a:t>
                </a:r>
                <a14:m>
                  <m:oMath xmlns:m="http://schemas.openxmlformats.org/officeDocument/2006/math">
                    <m:r>
                      <a:rPr lang="en-US" altLang="zh-TW" sz="20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000" i="1" noProof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TW" sz="20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0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sz="2000" noProof="0" dirty="0"/>
                  <a:t> )</a:t>
                </a:r>
                <a:r>
                  <a:rPr lang="en-US" altLang="zh-TW" sz="2800" noProof="0" dirty="0"/>
                  <a:t> (Velocity) → x(</a:t>
                </a:r>
                <a14:m>
                  <m:oMath xmlns:m="http://schemas.openxmlformats.org/officeDocument/2006/math">
                    <m:r>
                      <a:rPr lang="en-US" altLang="zh-TW" sz="20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00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TW" sz="2800" noProof="0" dirty="0"/>
                  <a:t>) (Position) → a(</a:t>
                </a:r>
                <a14:m>
                  <m:oMath xmlns:m="http://schemas.openxmlformats.org/officeDocument/2006/math">
                    <m:r>
                      <a:rPr lang="en-US" altLang="zh-TW" sz="20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00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TW" sz="2800" noProof="0" dirty="0"/>
                  <a:t>) (Acceleration) → v(</a:t>
                </a:r>
                <a14:m>
                  <m:oMath xmlns:m="http://schemas.openxmlformats.org/officeDocument/2006/math">
                    <m:r>
                      <a:rPr lang="en-US" altLang="zh-TW" sz="20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00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TW" sz="2800" noProof="0" dirty="0"/>
                  <a:t>) (Leapfrog).</a:t>
                </a:r>
                <a:endParaRPr lang="en-US" altLang="zh-TW" sz="2800" noProof="0" dirty="0">
                  <a:highlight>
                    <a:srgbClr val="C0C0C0"/>
                  </a:highlight>
                </a:endParaRPr>
              </a:p>
            </p:txBody>
          </p:sp>
        </mc:Choice>
        <mc:Fallback xmlns="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CBDBB26B-259A-4802-8801-7036365096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FDDF7569-3BB5-451F-AEED-650C03EDC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914" y="3882661"/>
            <a:ext cx="9650172" cy="261021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0287CDD-8B5F-4690-A4AD-6EE061CC5579}"/>
              </a:ext>
            </a:extLst>
          </p:cNvPr>
          <p:cNvSpPr/>
          <p:nvPr/>
        </p:nvSpPr>
        <p:spPr>
          <a:xfrm>
            <a:off x="1535257" y="2678952"/>
            <a:ext cx="2626658" cy="47830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5477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Share Memory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BDBB26B-259A-4802-8801-703636509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449"/>
            <a:ext cx="4988858" cy="481722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TW" dirty="0"/>
              <a:t>Considering that </a:t>
            </a:r>
            <a:r>
              <a:rPr lang="en-US" altLang="zh-TW" b="1" dirty="0"/>
              <a:t>each</a:t>
            </a:r>
            <a:r>
              <a:rPr lang="zh-TW" altLang="en-US" b="1" dirty="0"/>
              <a:t> </a:t>
            </a:r>
            <a:r>
              <a:rPr lang="en-US" altLang="zh-TW" b="1" dirty="0"/>
              <a:t>thread within a block needs to compute interaction forces with all other N bodies</a:t>
            </a:r>
            <a:r>
              <a:rPr lang="en-US" altLang="zh-TW" dirty="0"/>
              <a:t>, shared memory is utilized to maximize data reuse.</a:t>
            </a:r>
          </a:p>
          <a:p>
            <a:pPr>
              <a:lnSpc>
                <a:spcPct val="150000"/>
              </a:lnSpc>
            </a:pPr>
            <a:r>
              <a:rPr lang="en-US" altLang="zh-TW" dirty="0"/>
              <a:t>This strategy effectively </a:t>
            </a:r>
            <a:r>
              <a:rPr lang="en-US" altLang="zh-TW" b="1" dirty="0"/>
              <a:t>reduces the number of global memory accesses by a factor of BLOCK_SIZE</a:t>
            </a:r>
            <a:r>
              <a:rPr lang="en-US" altLang="zh-TW" dirty="0"/>
              <a:t>, significantly saving memory bandwidth.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60FF5D4-F707-407D-899B-B73EE66DD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0599"/>
            <a:ext cx="5979169" cy="635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2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Structure of Array</a:t>
            </a:r>
            <a:r>
              <a:rPr lang="en-US" altLang="zh-TW" noProof="0" dirty="0"/>
              <a:t>s</a:t>
            </a:r>
            <a:endParaRPr lang="en-US" noProof="0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0AE417E3-1856-4E51-AC62-2BD4BAB3DD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60685" y="4366143"/>
            <a:ext cx="2313198" cy="1012486"/>
          </a:xfr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708B8BE-BF3A-48DE-80EF-7698574C2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918" y="2542653"/>
            <a:ext cx="3288733" cy="101248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0342641-8A41-498B-AD96-EFB0C8244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202" y="3121406"/>
            <a:ext cx="7415798" cy="373573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4FD035E-F823-4305-8057-31A607DEC6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0913" y="213878"/>
            <a:ext cx="6186376" cy="2192169"/>
          </a:xfrm>
          <a:prstGeom prst="rect">
            <a:avLst/>
          </a:prstGeom>
        </p:spPr>
      </p:pic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2EC341E2-F846-4733-8F83-3BC9D3BFF47E}"/>
              </a:ext>
            </a:extLst>
          </p:cNvPr>
          <p:cNvSpPr/>
          <p:nvPr/>
        </p:nvSpPr>
        <p:spPr>
          <a:xfrm rot="5400000">
            <a:off x="8198931" y="2484538"/>
            <a:ext cx="570340" cy="558376"/>
          </a:xfrm>
          <a:prstGeom prst="rightArrow">
            <a:avLst>
              <a:gd name="adj1" fmla="val 38575"/>
              <a:gd name="adj2" fmla="val 557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箭號: 向右 13">
            <a:extLst>
              <a:ext uri="{FF2B5EF4-FFF2-40B4-BE49-F238E27FC236}">
                <a16:creationId xmlns:a16="http://schemas.microsoft.com/office/drawing/2014/main" id="{39F937D7-E416-5E9D-6FC0-AF789FDF9240}"/>
              </a:ext>
            </a:extLst>
          </p:cNvPr>
          <p:cNvSpPr/>
          <p:nvPr/>
        </p:nvSpPr>
        <p:spPr>
          <a:xfrm rot="5400000">
            <a:off x="1932114" y="3681453"/>
            <a:ext cx="570340" cy="558376"/>
          </a:xfrm>
          <a:prstGeom prst="rightArrow">
            <a:avLst>
              <a:gd name="adj1" fmla="val 38575"/>
              <a:gd name="adj2" fmla="val 557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8250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3673B5C7-8C62-08BF-DCF4-5A43AF503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58963B2-7B94-4688-71F2-DE931C3D27EC}"/>
              </a:ext>
            </a:extLst>
          </p:cNvPr>
          <p:cNvSpPr txBox="1">
            <a:spLocks/>
          </p:cNvSpPr>
          <p:nvPr/>
        </p:nvSpPr>
        <p:spPr>
          <a:xfrm>
            <a:off x="360228" y="2070441"/>
            <a:ext cx="4630821" cy="47875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noProof="0" dirty="0"/>
              <a:t>Most efficient configuration: BLOCK_SIZE=256</a:t>
            </a:r>
            <a:r>
              <a:rPr lang="zh-TW" altLang="en-US" sz="1600" dirty="0"/>
              <a:t> </a:t>
            </a:r>
            <a:r>
              <a:rPr lang="en-US" altLang="zh-TW" sz="1600" dirty="0"/>
              <a:t>at</a:t>
            </a:r>
            <a:r>
              <a:rPr lang="zh-TW" altLang="en-US" sz="1600" dirty="0"/>
              <a:t> </a:t>
            </a:r>
            <a:r>
              <a:rPr lang="en-US" altLang="zh-TW" sz="1600" dirty="0"/>
              <a:t>N=4096, w/</a:t>
            </a:r>
            <a:r>
              <a:rPr lang="en-US" sz="1600" noProof="0" dirty="0"/>
              <a:t> </a:t>
            </a:r>
            <a:r>
              <a:rPr lang="en-US" sz="1600" b="1" dirty="0"/>
              <a:t>L</a:t>
            </a:r>
            <a:r>
              <a:rPr lang="en-US" sz="1600" b="1" noProof="0" dirty="0" err="1"/>
              <a:t>owest</a:t>
            </a:r>
            <a:r>
              <a:rPr lang="en-US" sz="1600" b="1" noProof="0" dirty="0"/>
              <a:t> total GPU computation time</a:t>
            </a:r>
            <a:r>
              <a:rPr lang="en-US" sz="1600" noProof="0" dirty="0"/>
              <a:t> of ~8.49 seconds.</a:t>
            </a:r>
          </a:p>
          <a:p>
            <a:pPr>
              <a:lnSpc>
                <a:spcPct val="150000"/>
              </a:lnSpc>
            </a:pPr>
            <a:r>
              <a:rPr lang="en-US" sz="1600" noProof="0" dirty="0"/>
              <a:t>Severe performance penalty </a:t>
            </a:r>
            <a:r>
              <a:rPr lang="en-US" sz="1600" dirty="0"/>
              <a:t>w/ </a:t>
            </a:r>
            <a:r>
              <a:rPr lang="en-US" sz="1600" noProof="0" dirty="0"/>
              <a:t>BLOCK_SIZE=512. </a:t>
            </a:r>
            <a:r>
              <a:rPr lang="en-US" sz="1600" dirty="0"/>
              <a:t>S</a:t>
            </a:r>
            <a:r>
              <a:rPr lang="en-US" sz="1600" noProof="0" dirty="0" err="1"/>
              <a:t>trongly</a:t>
            </a:r>
            <a:r>
              <a:rPr lang="en-US" sz="1600" noProof="0" dirty="0"/>
              <a:t> suggests that a </a:t>
            </a:r>
            <a:r>
              <a:rPr lang="en-US" altLang="zh-TW" sz="1600" b="1" noProof="0" dirty="0"/>
              <a:t>larger</a:t>
            </a:r>
            <a:r>
              <a:rPr lang="zh-TW" altLang="en-US" sz="1600" b="1" noProof="0" dirty="0"/>
              <a:t> </a:t>
            </a:r>
            <a:r>
              <a:rPr lang="en-US" sz="1600" b="1" noProof="0" dirty="0"/>
              <a:t>block size </a:t>
            </a:r>
            <a:r>
              <a:rPr lang="en-US" altLang="zh-TW" sz="1600" noProof="0" dirty="0"/>
              <a:t>might</a:t>
            </a:r>
            <a:r>
              <a:rPr lang="zh-TW" altLang="en-US" sz="1600" noProof="0" dirty="0"/>
              <a:t> </a:t>
            </a:r>
            <a:r>
              <a:rPr lang="en-US" sz="1600" noProof="0" dirty="0"/>
              <a:t>exceeds the </a:t>
            </a:r>
            <a:r>
              <a:rPr lang="en-US" sz="1600" b="1" dirty="0"/>
              <a:t>R</a:t>
            </a:r>
            <a:r>
              <a:rPr lang="en-US" sz="1600" b="1" noProof="0" dirty="0" err="1"/>
              <a:t>egister</a:t>
            </a:r>
            <a:r>
              <a:rPr lang="en-US" sz="1600" b="1" noProof="0" dirty="0"/>
              <a:t> </a:t>
            </a:r>
            <a:r>
              <a:rPr lang="en-US" sz="1600" b="1" dirty="0"/>
              <a:t>L</a:t>
            </a:r>
            <a:r>
              <a:rPr lang="en-US" sz="1600" b="1" noProof="0" dirty="0" err="1"/>
              <a:t>imit</a:t>
            </a:r>
            <a:r>
              <a:rPr lang="en-US" sz="1600" b="1" noProof="0" dirty="0"/>
              <a:t> per Streaming Multiprocessor (SM), </a:t>
            </a:r>
            <a:r>
              <a:rPr lang="en-US" sz="1600" noProof="0" dirty="0"/>
              <a:t>causing </a:t>
            </a:r>
            <a:r>
              <a:rPr lang="en-US" sz="1600" b="1" noProof="0" dirty="0"/>
              <a:t>Register </a:t>
            </a:r>
            <a:r>
              <a:rPr lang="en-US" sz="1600" b="1" dirty="0"/>
              <a:t>S</a:t>
            </a:r>
            <a:r>
              <a:rPr lang="en-US" sz="1600" b="1" noProof="0" dirty="0"/>
              <a:t>pilling </a:t>
            </a:r>
            <a:r>
              <a:rPr lang="en-US" sz="1600" noProof="0" dirty="0"/>
              <a:t>to local memory.</a:t>
            </a:r>
          </a:p>
          <a:p>
            <a:pPr>
              <a:lnSpc>
                <a:spcPct val="150000"/>
              </a:lnSpc>
            </a:pPr>
            <a:r>
              <a:rPr lang="en-US" sz="1600" noProof="0" dirty="0"/>
              <a:t>The profiling results confirm that the application is </a:t>
            </a:r>
            <a:r>
              <a:rPr lang="en-US" sz="1600" b="1" dirty="0"/>
              <a:t>C</a:t>
            </a:r>
            <a:r>
              <a:rPr lang="en-US" sz="1600" b="1" noProof="0" dirty="0" err="1"/>
              <a:t>ompute</a:t>
            </a:r>
            <a:r>
              <a:rPr lang="en-US" sz="1600" b="1" noProof="0" dirty="0"/>
              <a:t>-Bound</a:t>
            </a:r>
            <a:r>
              <a:rPr lang="en-US" sz="1600" noProof="0" dirty="0"/>
              <a:t>. In the optimal case (Block Size 256), GPU computation accounts for ~80% of the total wall time.</a:t>
            </a: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3C864802-3491-97E3-06D3-724382E00B7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Block Size Tuning and Observations</a:t>
            </a:r>
            <a:endParaRPr lang="en-US" noProof="0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5F38D97-10C7-47A6-875E-13ED2694FC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1277" y="2451055"/>
            <a:ext cx="6735141" cy="2886489"/>
          </a:xfrm>
        </p:spPr>
      </p:pic>
    </p:spTree>
    <p:extLst>
      <p:ext uri="{BB962C8B-B14F-4D97-AF65-F5344CB8AC3E}">
        <p14:creationId xmlns:p14="http://schemas.microsoft.com/office/powerpoint/2010/main" val="33139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F0824-2AC6-F098-650C-40C5C419F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A3BA3782-AE9B-583A-7041-03B24EC50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5EF6ED2-CB40-AC8F-5693-C55C48453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CUDA Profiling Metrics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99D06F-949D-C0E2-BAC8-AF9EBCA82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1800" noProof="0" dirty="0"/>
              <a:t>All the detailed Profiling are measured at N=2048.</a:t>
            </a:r>
          </a:p>
          <a:p>
            <a:pPr>
              <a:lnSpc>
                <a:spcPct val="170000"/>
              </a:lnSpc>
            </a:pPr>
            <a:r>
              <a:rPr lang="en-US" sz="1800" b="1" noProof="0" dirty="0"/>
              <a:t>Global Memory Load </a:t>
            </a:r>
            <a:r>
              <a:rPr lang="en-US" sz="1800" b="1" dirty="0"/>
              <a:t>Efficiency </a:t>
            </a:r>
            <a:r>
              <a:rPr lang="en-US" sz="1800" dirty="0"/>
              <a:t>(`</a:t>
            </a:r>
            <a:r>
              <a:rPr lang="en-US" sz="1800" dirty="0" err="1"/>
              <a:t>gld_efficiency</a:t>
            </a:r>
            <a:r>
              <a:rPr lang="en-US" sz="1800" dirty="0"/>
              <a:t>`)</a:t>
            </a:r>
            <a:endParaRPr lang="en-US" sz="1800" noProof="0" dirty="0"/>
          </a:p>
          <a:p>
            <a:pPr lvl="1">
              <a:lnSpc>
                <a:spcPct val="170000"/>
              </a:lnSpc>
            </a:pPr>
            <a:r>
              <a:rPr lang="en-US" sz="1600" dirty="0"/>
              <a:t>Ratio of requested global memory load throughput to required global memory load throughput expressed as percentage.</a:t>
            </a:r>
            <a:endParaRPr lang="en-US" sz="1600" noProof="0" dirty="0"/>
          </a:p>
          <a:p>
            <a:pPr>
              <a:lnSpc>
                <a:spcPct val="170000"/>
              </a:lnSpc>
            </a:pPr>
            <a:r>
              <a:rPr lang="en-US" sz="1800" b="1" noProof="0" dirty="0"/>
              <a:t>Global Memory Store </a:t>
            </a:r>
            <a:r>
              <a:rPr lang="en-US" sz="1800" b="1" dirty="0"/>
              <a:t>Efficiency </a:t>
            </a:r>
            <a:r>
              <a:rPr lang="en-US" sz="1800" dirty="0"/>
              <a:t>(`</a:t>
            </a:r>
            <a:r>
              <a:rPr lang="en-US" sz="1800" dirty="0" err="1"/>
              <a:t>gst_efficiency</a:t>
            </a:r>
            <a:r>
              <a:rPr lang="en-US" sz="1800" dirty="0"/>
              <a:t>`)</a:t>
            </a:r>
            <a:endParaRPr lang="en-US" sz="1800" noProof="0" dirty="0"/>
          </a:p>
          <a:p>
            <a:pPr lvl="1">
              <a:lnSpc>
                <a:spcPct val="170000"/>
              </a:lnSpc>
            </a:pPr>
            <a:r>
              <a:rPr lang="en-US" sz="1600" dirty="0"/>
              <a:t>Ratio of requested global memory store throughput to required global memory store throughput expressed as percentage.</a:t>
            </a:r>
            <a:endParaRPr lang="en-US" sz="1600" noProof="0" dirty="0"/>
          </a:p>
          <a:p>
            <a:pPr>
              <a:lnSpc>
                <a:spcPct val="170000"/>
              </a:lnSpc>
            </a:pPr>
            <a:r>
              <a:rPr lang="en-US" sz="1800" b="1" noProof="0" dirty="0"/>
              <a:t>Shared Memory Store Transactions Per </a:t>
            </a:r>
            <a:r>
              <a:rPr lang="en-US" sz="1800" b="1" dirty="0"/>
              <a:t>Request </a:t>
            </a:r>
            <a:r>
              <a:rPr lang="en-US" sz="1800" dirty="0"/>
              <a:t>(`</a:t>
            </a:r>
            <a:r>
              <a:rPr lang="en-US" sz="1800" dirty="0" err="1"/>
              <a:t>shared_store_transactions_per_request</a:t>
            </a:r>
            <a:r>
              <a:rPr lang="en-US" sz="1800" dirty="0"/>
              <a:t>`)</a:t>
            </a:r>
            <a:endParaRPr lang="en-US" sz="1800" noProof="0" dirty="0"/>
          </a:p>
          <a:p>
            <a:pPr lvl="1">
              <a:lnSpc>
                <a:spcPct val="170000"/>
              </a:lnSpc>
            </a:pPr>
            <a:r>
              <a:rPr lang="en-US" sz="1600" dirty="0"/>
              <a:t>Average number of shared memory store transactions performed for each shared memory store.</a:t>
            </a:r>
            <a:endParaRPr lang="en-US" sz="1600" noProof="0" dirty="0"/>
          </a:p>
        </p:txBody>
      </p:sp>
    </p:spTree>
    <p:extLst>
      <p:ext uri="{BB962C8B-B14F-4D97-AF65-F5344CB8AC3E}">
        <p14:creationId xmlns:p14="http://schemas.microsoft.com/office/powerpoint/2010/main" val="3472181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3673B5C7-8C62-08BF-DCF4-5A43AF503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58963B2-7B94-4688-71F2-DE931C3D27EC}"/>
              </a:ext>
            </a:extLst>
          </p:cNvPr>
          <p:cNvSpPr txBox="1">
            <a:spLocks/>
          </p:cNvSpPr>
          <p:nvPr/>
        </p:nvSpPr>
        <p:spPr>
          <a:xfrm>
            <a:off x="360227" y="2070441"/>
            <a:ext cx="5136806" cy="4036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800" noProof="0" dirty="0"/>
              <a:t>Observations:</a:t>
            </a:r>
          </a:p>
          <a:p>
            <a:pPr lvl="1">
              <a:lnSpc>
                <a:spcPct val="150000"/>
              </a:lnSpc>
            </a:pPr>
            <a:r>
              <a:rPr lang="en-US" sz="1800" noProof="0" dirty="0"/>
              <a:t>Array of Structs</a:t>
            </a:r>
          </a:p>
          <a:p>
            <a:pPr lvl="2">
              <a:lnSpc>
                <a:spcPct val="150000"/>
              </a:lnSpc>
            </a:pPr>
            <a:r>
              <a:rPr lang="en-US" sz="1400" noProof="0" dirty="0"/>
              <a:t>Non-Coalescing Memory Access (GLD Eff 25%)</a:t>
            </a:r>
          </a:p>
          <a:p>
            <a:pPr lvl="2">
              <a:lnSpc>
                <a:spcPct val="150000"/>
              </a:lnSpc>
            </a:pPr>
            <a:r>
              <a:rPr lang="en-US" sz="1400" noProof="0" dirty="0"/>
              <a:t>Shared Memory Bank Conflict (Shared Store TX 1.43)</a:t>
            </a:r>
          </a:p>
          <a:p>
            <a:pPr lvl="1">
              <a:lnSpc>
                <a:spcPct val="150000"/>
              </a:lnSpc>
            </a:pPr>
            <a:r>
              <a:rPr lang="en-US" sz="1800" noProof="0" dirty="0"/>
              <a:t>Structure of Arrays</a:t>
            </a:r>
          </a:p>
          <a:p>
            <a:pPr lvl="2">
              <a:lnSpc>
                <a:spcPct val="150000"/>
              </a:lnSpc>
            </a:pPr>
            <a:r>
              <a:rPr lang="en-US" sz="1400" noProof="0" dirty="0"/>
              <a:t>Coalescing Memory Access (GLD Eff 25% -&gt; 99.8%)</a:t>
            </a:r>
          </a:p>
          <a:p>
            <a:pPr lvl="2">
              <a:lnSpc>
                <a:spcPct val="150000"/>
              </a:lnSpc>
            </a:pPr>
            <a:r>
              <a:rPr lang="en-US" sz="1400" noProof="0" dirty="0"/>
              <a:t>Reduced Bank Conflict (Shared Store TX 1.43 -&gt; 1.20)</a:t>
            </a:r>
          </a:p>
          <a:p>
            <a:pPr>
              <a:lnSpc>
                <a:spcPct val="150000"/>
              </a:lnSpc>
            </a:pPr>
            <a:r>
              <a:rPr lang="en-US" sz="1800" noProof="0" dirty="0"/>
              <a:t>Conclusions:</a:t>
            </a:r>
          </a:p>
          <a:p>
            <a:pPr lvl="1">
              <a:lnSpc>
                <a:spcPct val="150000"/>
              </a:lnSpc>
            </a:pPr>
            <a:r>
              <a:rPr lang="en-US" sz="1800" noProof="0" dirty="0"/>
              <a:t>Memory Bound -&gt; Compute Bound Problem</a:t>
            </a:r>
          </a:p>
          <a:p>
            <a:pPr lvl="1">
              <a:lnSpc>
                <a:spcPct val="150000"/>
              </a:lnSpc>
            </a:pPr>
            <a:r>
              <a:rPr lang="en-US" sz="1800" noProof="0" dirty="0"/>
              <a:t>FP64 Throughput Limitation from GTX 1080</a:t>
            </a:r>
          </a:p>
        </p:txBody>
      </p:sp>
      <p:pic>
        <p:nvPicPr>
          <p:cNvPr id="6" name="內容版面配置區 5" descr="一張含有 文字, 螢幕擷取畫面, 圖表, 繪圖 的圖片&#10;&#10;AI 產生的內容可能不正確。">
            <a:extLst>
              <a:ext uri="{FF2B5EF4-FFF2-40B4-BE49-F238E27FC236}">
                <a16:creationId xmlns:a16="http://schemas.microsoft.com/office/drawing/2014/main" id="{44F7940A-DD25-8BA5-41F2-0F046B5950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860" y="1697224"/>
            <a:ext cx="6832140" cy="4782503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3C864802-3491-97E3-06D3-724382E00B7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Memory Subsystem Efficiency</a:t>
            </a:r>
          </a:p>
        </p:txBody>
      </p:sp>
    </p:spTree>
    <p:extLst>
      <p:ext uri="{BB962C8B-B14F-4D97-AF65-F5344CB8AC3E}">
        <p14:creationId xmlns:p14="http://schemas.microsoft.com/office/powerpoint/2010/main" val="2736496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9C05B-12A4-F183-6B40-067F1911D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1B41EA3D-A758-E5F6-74AD-933942E27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4D35353-0C9D-1138-B17D-7F3CBEB9B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CUDA Profiling Metrics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BE54A7-AF2D-A607-A7F1-DDEF6429A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1800" b="1" noProof="0" dirty="0"/>
              <a:t>Multiprocessor </a:t>
            </a:r>
            <a:r>
              <a:rPr lang="en-US" sz="1800" b="1" dirty="0"/>
              <a:t>Activity </a:t>
            </a:r>
            <a:r>
              <a:rPr lang="en-US" sz="1800" dirty="0"/>
              <a:t>(`</a:t>
            </a:r>
            <a:r>
              <a:rPr lang="en-US" sz="1800" dirty="0" err="1"/>
              <a:t>sm_efficiency</a:t>
            </a:r>
            <a:r>
              <a:rPr lang="en-US" sz="1800" dirty="0"/>
              <a:t>`)</a:t>
            </a:r>
            <a:endParaRPr lang="en-US" sz="1800" noProof="0" dirty="0"/>
          </a:p>
          <a:p>
            <a:pPr lvl="1">
              <a:lnSpc>
                <a:spcPct val="170000"/>
              </a:lnSpc>
            </a:pPr>
            <a:r>
              <a:rPr lang="en-US" sz="1600" dirty="0"/>
              <a:t>The percentage of time at least one warp is active on a specific multiprocessor.</a:t>
            </a:r>
            <a:endParaRPr lang="en-US" sz="1600" noProof="0" dirty="0"/>
          </a:p>
          <a:p>
            <a:pPr>
              <a:lnSpc>
                <a:spcPct val="170000"/>
              </a:lnSpc>
            </a:pPr>
            <a:r>
              <a:rPr lang="en-US" sz="1800" b="1" noProof="0" dirty="0"/>
              <a:t>Achieved </a:t>
            </a:r>
            <a:r>
              <a:rPr lang="en-US" sz="1800" b="1" dirty="0"/>
              <a:t>Occupancy </a:t>
            </a:r>
            <a:r>
              <a:rPr lang="en-US" sz="1800" dirty="0"/>
              <a:t>(`</a:t>
            </a:r>
            <a:r>
              <a:rPr lang="en-US" sz="1800" dirty="0" err="1"/>
              <a:t>achieved_occupancy</a:t>
            </a:r>
            <a:r>
              <a:rPr lang="en-US" sz="1800" dirty="0"/>
              <a:t>`)</a:t>
            </a:r>
            <a:endParaRPr lang="en-US" sz="1800" noProof="0" dirty="0"/>
          </a:p>
          <a:p>
            <a:pPr lvl="1">
              <a:lnSpc>
                <a:spcPct val="170000"/>
              </a:lnSpc>
            </a:pPr>
            <a:r>
              <a:rPr lang="en-US" sz="1600" dirty="0"/>
              <a:t>Ratio of the average active warps per active cycle to the maximum number of warps supported on a multiprocessor.</a:t>
            </a:r>
            <a:endParaRPr lang="en-US" sz="1600" noProof="0" dirty="0"/>
          </a:p>
        </p:txBody>
      </p:sp>
    </p:spTree>
    <p:extLst>
      <p:ext uri="{BB962C8B-B14F-4D97-AF65-F5344CB8AC3E}">
        <p14:creationId xmlns:p14="http://schemas.microsoft.com/office/powerpoint/2010/main" val="2094933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B8E0A-BE01-3139-8346-87B8B5FB0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FC0C51B8-1017-52C5-775D-3274AF018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ABF9476-972F-AE3E-D673-89B07218EA02}"/>
              </a:ext>
            </a:extLst>
          </p:cNvPr>
          <p:cNvSpPr txBox="1">
            <a:spLocks/>
          </p:cNvSpPr>
          <p:nvPr/>
        </p:nvSpPr>
        <p:spPr>
          <a:xfrm>
            <a:off x="360227" y="2070441"/>
            <a:ext cx="4807285" cy="4036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800" noProof="0" dirty="0"/>
              <a:t>Observations:</a:t>
            </a:r>
          </a:p>
          <a:p>
            <a:pPr lvl="1">
              <a:lnSpc>
                <a:spcPct val="150000"/>
              </a:lnSpc>
            </a:pPr>
            <a:r>
              <a:rPr lang="en-US" sz="1800" noProof="0" dirty="0"/>
              <a:t>SM Efficiency</a:t>
            </a:r>
          </a:p>
          <a:p>
            <a:pPr lvl="2">
              <a:lnSpc>
                <a:spcPct val="150000"/>
              </a:lnSpc>
            </a:pPr>
            <a:r>
              <a:rPr lang="en-US" sz="1400" noProof="0" dirty="0"/>
              <a:t>Lot of Stalls =&gt; Warps waiting for Memory Read</a:t>
            </a:r>
          </a:p>
          <a:p>
            <a:pPr lvl="2">
              <a:lnSpc>
                <a:spcPct val="150000"/>
              </a:lnSpc>
            </a:pPr>
            <a:r>
              <a:rPr lang="en-US" sz="1400" b="1" noProof="0" dirty="0" err="1"/>
              <a:t>SoA</a:t>
            </a:r>
            <a:r>
              <a:rPr lang="en-US" sz="1400" b="1" noProof="0" dirty="0"/>
              <a:t> resolved Memory Read Issue.</a:t>
            </a:r>
          </a:p>
          <a:p>
            <a:pPr lvl="2">
              <a:lnSpc>
                <a:spcPct val="150000"/>
              </a:lnSpc>
            </a:pPr>
            <a:r>
              <a:rPr lang="en-US" sz="1400" noProof="0" dirty="0"/>
              <a:t>However, w/ N = 2048, B = 256, 2048 / 256 = 8 blocks for 20 Streaming Multiprocessors =&gt; ~40% actives.</a:t>
            </a:r>
          </a:p>
          <a:p>
            <a:pPr lvl="2">
              <a:lnSpc>
                <a:spcPct val="150000"/>
              </a:lnSpc>
            </a:pPr>
            <a:r>
              <a:rPr lang="en-US" sz="1400" noProof="0" dirty="0"/>
              <a:t>2048 / 64 = 32 blocks =&gt; ~100% actives.</a:t>
            </a:r>
          </a:p>
          <a:p>
            <a:pPr lvl="1">
              <a:lnSpc>
                <a:spcPct val="150000"/>
              </a:lnSpc>
            </a:pPr>
            <a:r>
              <a:rPr lang="en-US" sz="1800" noProof="0" dirty="0"/>
              <a:t>Achieved Occupancy</a:t>
            </a:r>
          </a:p>
          <a:p>
            <a:pPr lvl="2">
              <a:lnSpc>
                <a:spcPct val="150000"/>
              </a:lnSpc>
            </a:pPr>
            <a:r>
              <a:rPr lang="en-US" sz="1400" b="1" noProof="0" dirty="0"/>
              <a:t>Naturally Low </a:t>
            </a:r>
            <a:r>
              <a:rPr lang="en-US" sz="1400" noProof="0" dirty="0"/>
              <a:t>since the problem is too small.</a:t>
            </a:r>
          </a:p>
          <a:p>
            <a:pPr lvl="2">
              <a:lnSpc>
                <a:spcPct val="150000"/>
              </a:lnSpc>
            </a:pPr>
            <a:r>
              <a:rPr lang="en-US" sz="1400" noProof="0" dirty="0"/>
              <a:t>Acceptable since SM Efficiency is high.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23A49DAF-EA88-F392-01D9-3B21DE18B7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59860" y="1697224"/>
            <a:ext cx="6832140" cy="4782503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A0E00AE0-78E6-A600-858F-F9C38210BBF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Compute Utilization</a:t>
            </a:r>
          </a:p>
        </p:txBody>
      </p:sp>
    </p:spTree>
    <p:extLst>
      <p:ext uri="{BB962C8B-B14F-4D97-AF65-F5344CB8AC3E}">
        <p14:creationId xmlns:p14="http://schemas.microsoft.com/office/powerpoint/2010/main" val="1733957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37305-96F8-C2A7-1F38-ACFDA2C8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CUDA Profiling Metrics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9F0C62-2C1E-95C1-C583-9AD78DECC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1800" b="1" noProof="0" dirty="0"/>
              <a:t>Issue Stall Reasons (Execution Dependency</a:t>
            </a:r>
            <a:r>
              <a:rPr lang="en-US" sz="1800" b="1" dirty="0"/>
              <a:t>) </a:t>
            </a:r>
            <a:r>
              <a:rPr lang="en-US" sz="1800" dirty="0"/>
              <a:t>(`</a:t>
            </a:r>
            <a:r>
              <a:rPr lang="en-US" sz="1800" dirty="0" err="1"/>
              <a:t>stall_exec_dependency</a:t>
            </a:r>
            <a:r>
              <a:rPr lang="en-US" sz="1800" dirty="0"/>
              <a:t>`)</a:t>
            </a:r>
            <a:endParaRPr lang="en-US" sz="1800" noProof="0" dirty="0"/>
          </a:p>
          <a:p>
            <a:pPr lvl="1">
              <a:lnSpc>
                <a:spcPct val="170000"/>
              </a:lnSpc>
            </a:pPr>
            <a:r>
              <a:rPr lang="en-US" sz="1600" dirty="0"/>
              <a:t>Percentage of stalls occurring because an input required by the instruction is not yet available.</a:t>
            </a:r>
            <a:endParaRPr lang="en-US" sz="1600" noProof="0" dirty="0"/>
          </a:p>
          <a:p>
            <a:pPr>
              <a:lnSpc>
                <a:spcPct val="170000"/>
              </a:lnSpc>
            </a:pPr>
            <a:r>
              <a:rPr lang="en-US" sz="1800" b="1" noProof="0" dirty="0"/>
              <a:t>Issue Stall Reasons (Data Request</a:t>
            </a:r>
            <a:r>
              <a:rPr lang="en-US" sz="1800" b="1" dirty="0"/>
              <a:t>) </a:t>
            </a:r>
            <a:r>
              <a:rPr lang="en-US" sz="1800" dirty="0"/>
              <a:t>(`</a:t>
            </a:r>
            <a:r>
              <a:rPr lang="en-US" sz="1800" dirty="0" err="1"/>
              <a:t>stall_memory_dependency</a:t>
            </a:r>
            <a:r>
              <a:rPr lang="en-US" sz="1800" dirty="0"/>
              <a:t>`)</a:t>
            </a:r>
            <a:endParaRPr lang="en-US" sz="1800" noProof="0" dirty="0"/>
          </a:p>
          <a:p>
            <a:pPr lvl="1">
              <a:lnSpc>
                <a:spcPct val="170000"/>
              </a:lnSpc>
            </a:pPr>
            <a:r>
              <a:rPr lang="en-US" sz="1600" dirty="0"/>
              <a:t>Percentage of stalls occurring because a memory operation cannot be performed due to the required resources not being available or fully utilized, or because too many requests of a given type are outstanding.</a:t>
            </a:r>
            <a:endParaRPr lang="en-US" sz="1600" noProof="0" dirty="0"/>
          </a:p>
          <a:p>
            <a:pPr>
              <a:lnSpc>
                <a:spcPct val="170000"/>
              </a:lnSpc>
            </a:pPr>
            <a:r>
              <a:rPr lang="en-US" sz="1800" b="1" noProof="0" dirty="0"/>
              <a:t>Issue Stall Reasons (Synchronization</a:t>
            </a:r>
            <a:r>
              <a:rPr lang="en-US" sz="1800" b="1" dirty="0"/>
              <a:t>) </a:t>
            </a:r>
            <a:r>
              <a:rPr lang="en-US" sz="1800" dirty="0"/>
              <a:t>(`</a:t>
            </a:r>
            <a:r>
              <a:rPr lang="en-US" sz="1800" dirty="0" err="1"/>
              <a:t>stall_sync</a:t>
            </a:r>
            <a:r>
              <a:rPr lang="en-US" sz="1800" dirty="0"/>
              <a:t>`)</a:t>
            </a:r>
            <a:endParaRPr lang="en-US" sz="1800" noProof="0" dirty="0"/>
          </a:p>
          <a:p>
            <a:pPr lvl="1">
              <a:lnSpc>
                <a:spcPct val="170000"/>
              </a:lnSpc>
            </a:pPr>
            <a:r>
              <a:rPr lang="en-US" sz="1600" dirty="0"/>
              <a:t>Percentage of stalls occurring because the warp is blocked at a __</a:t>
            </a:r>
            <a:r>
              <a:rPr lang="en-US" sz="1600" dirty="0" err="1"/>
              <a:t>syncthreads</a:t>
            </a:r>
            <a:r>
              <a:rPr lang="en-US" sz="1600" dirty="0"/>
              <a:t>() call.</a:t>
            </a:r>
            <a:endParaRPr lang="en-US" sz="1600" noProof="0" dirty="0"/>
          </a:p>
        </p:txBody>
      </p:sp>
    </p:spTree>
    <p:extLst>
      <p:ext uri="{BB962C8B-B14F-4D97-AF65-F5344CB8AC3E}">
        <p14:creationId xmlns:p14="http://schemas.microsoft.com/office/powerpoint/2010/main" val="33158542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95E5C-FF3F-48F7-1D80-CB80F58AD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DB4F72F9-F297-AA1C-0CB6-7E758FF2D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C9F08DE-35B8-9243-16A1-BFBCDBAF9108}"/>
              </a:ext>
            </a:extLst>
          </p:cNvPr>
          <p:cNvSpPr txBox="1">
            <a:spLocks/>
          </p:cNvSpPr>
          <p:nvPr/>
        </p:nvSpPr>
        <p:spPr>
          <a:xfrm>
            <a:off x="360227" y="2070441"/>
            <a:ext cx="5355418" cy="4036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800" noProof="0" dirty="0"/>
              <a:t>Observations:</a:t>
            </a:r>
          </a:p>
          <a:p>
            <a:pPr lvl="1">
              <a:lnSpc>
                <a:spcPct val="150000"/>
              </a:lnSpc>
            </a:pPr>
            <a:r>
              <a:rPr lang="en-US" sz="1400" noProof="0" dirty="0"/>
              <a:t>Baseline version: Dependency caused by Memory Dependency Stall is ~12% (red), then resolved via </a:t>
            </a:r>
            <a:r>
              <a:rPr lang="en-US" sz="1400" b="1" noProof="0" dirty="0"/>
              <a:t>Shared Memory</a:t>
            </a:r>
            <a:r>
              <a:rPr lang="en-US" sz="1400" noProof="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1400" noProof="0" dirty="0"/>
              <a:t>Memory Dependency Stall becomes Synchronization Overhead w/ </a:t>
            </a:r>
            <a:r>
              <a:rPr lang="en-US" sz="1400" b="1" noProof="0" dirty="0"/>
              <a:t>Shared Memory &amp; </a:t>
            </a:r>
            <a:r>
              <a:rPr lang="en-US" sz="1400" b="1" noProof="0" dirty="0" err="1"/>
              <a:t>SoA</a:t>
            </a:r>
            <a:r>
              <a:rPr lang="en-US" sz="1400" noProof="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1400" noProof="0" dirty="0"/>
              <a:t>The bottleneck proved to be the </a:t>
            </a:r>
            <a:r>
              <a:rPr lang="en-US" sz="1400" b="1" noProof="0" dirty="0"/>
              <a:t>Execution Dependency Stall</a:t>
            </a:r>
            <a:r>
              <a:rPr lang="en-US" sz="1400" noProof="0" dirty="0"/>
              <a:t>, since we use `sqrt ()` to maintain the precision.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4E83B3C7-1AF7-9A1C-93FD-D8268D1FA0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75872" y="2012583"/>
            <a:ext cx="5931112" cy="4151783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1AC0FA46-5786-AB1C-16D7-F956749AB7A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Instruction Stall Analysis</a:t>
            </a:r>
          </a:p>
        </p:txBody>
      </p:sp>
      <p:pic>
        <p:nvPicPr>
          <p:cNvPr id="3" name="圖片 2" descr="一張含有 文字, 螢幕擷取畫面, 數字, 圖表 的圖片&#10;&#10;AI 產生的內容可能不正確。">
            <a:extLst>
              <a:ext uri="{FF2B5EF4-FFF2-40B4-BE49-F238E27FC236}">
                <a16:creationId xmlns:a16="http://schemas.microsoft.com/office/drawing/2014/main" id="{0FEF843B-B9E7-4C41-4E74-AC0852A4B4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878" y="4778829"/>
            <a:ext cx="2572067" cy="19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122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242A5-48D8-B3B2-BA2B-173F2B254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C5DD8D43-E3E5-51A6-B93E-E811B6655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1B79C7B-AD0F-D9D9-25BD-25E5E1CD347B}"/>
              </a:ext>
            </a:extLst>
          </p:cNvPr>
          <p:cNvSpPr txBox="1">
            <a:spLocks/>
          </p:cNvSpPr>
          <p:nvPr/>
        </p:nvSpPr>
        <p:spPr>
          <a:xfrm>
            <a:off x="360228" y="2070441"/>
            <a:ext cx="3465538" cy="4036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noProof="0" dirty="0"/>
              <a:t>Solved Problem: </a:t>
            </a:r>
            <a:r>
              <a:rPr lang="en-US" sz="1600" b="1" noProof="0" dirty="0"/>
              <a:t>Memory Issue</a:t>
            </a:r>
            <a:r>
              <a:rPr lang="en-US" sz="1600" noProof="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Unsolved Problem: Compute Bound caused by FP64 Precision Operation and NVIDIA GTX 1080’s </a:t>
            </a:r>
            <a:r>
              <a:rPr lang="en-US" sz="1600" b="1" dirty="0"/>
              <a:t>Compute Limitation</a:t>
            </a:r>
            <a:r>
              <a:rPr lang="en-US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Solution: Porting to AMD MI100.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Results: w/ N = 16384, total time spend, reduced from 150s (v2) to 133s (v3), then to 33s (v4), </a:t>
            </a:r>
            <a:r>
              <a:rPr lang="en-US" sz="1600" b="1" dirty="0"/>
              <a:t>speedup 4.5x.</a:t>
            </a:r>
          </a:p>
        </p:txBody>
      </p:sp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D465F8C6-3B17-5645-2C4A-869CA89D2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89318" y="168876"/>
            <a:ext cx="4807285" cy="2631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9CB33123-150D-9E9F-BABD-7D8C976B58C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AMD Porting</a:t>
            </a:r>
          </a:p>
        </p:txBody>
      </p:sp>
      <p:pic>
        <p:nvPicPr>
          <p:cNvPr id="12" name="圖片 11" descr="一張含有 文字, 螢幕擷取畫面, 行, 繪圖 的圖片&#10;&#10;AI 產生的內容可能不正確。">
            <a:extLst>
              <a:ext uri="{FF2B5EF4-FFF2-40B4-BE49-F238E27FC236}">
                <a16:creationId xmlns:a16="http://schemas.microsoft.com/office/drawing/2014/main" id="{A23F99FD-EBD8-4873-B6DF-F5AD49200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766" y="1690688"/>
            <a:ext cx="8366234" cy="501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339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背景图片水彩ppt背景图片水彩画无水印– 博物迷">
            <a:extLst>
              <a:ext uri="{FF2B5EF4-FFF2-40B4-BE49-F238E27FC236}">
                <a16:creationId xmlns:a16="http://schemas.microsoft.com/office/drawing/2014/main" id="{83671EAD-8C1C-1682-9E5D-5673AB7C2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470"/>
            <a:ext cx="12192000" cy="687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9F0C62-2C1E-95C1-C583-9AD78DECC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582899"/>
            <a:ext cx="5257800" cy="66239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This page is intentionally left blank.</a:t>
            </a:r>
            <a:endParaRPr lang="en-US" b="1" noProof="0" dirty="0"/>
          </a:p>
        </p:txBody>
      </p:sp>
      <p:pic>
        <p:nvPicPr>
          <p:cNvPr id="5" name="圖片 4" descr="一張含有 黑暗, 黑色, space, 夜晚 的圖片&#10;&#10;AI 產生的內容可能不正確。">
            <a:extLst>
              <a:ext uri="{FF2B5EF4-FFF2-40B4-BE49-F238E27FC236}">
                <a16:creationId xmlns:a16="http://schemas.microsoft.com/office/drawing/2014/main" id="{E64D5607-5519-9C9E-C961-C1FC8FE3D7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90" y="2245293"/>
            <a:ext cx="4124593" cy="412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17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題">
  <a:themeElements>
    <a:clrScheme name="Office 2013 - 2022 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Garamond"/>
        <a:ea typeface="微軟正黑體"/>
        <a:cs typeface=""/>
      </a:majorFont>
      <a:minorFont>
        <a:latin typeface="Garamond"/>
        <a:ea typeface="微軟正黑體"/>
        <a:cs typeface=""/>
      </a:minorFont>
    </a:fontScheme>
    <a:fmtScheme name="Office 2013 - 2022 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1161</TotalTime>
  <Words>1672</Words>
  <Application>Microsoft Macintosh PowerPoint</Application>
  <PresentationFormat>寬螢幕</PresentationFormat>
  <Paragraphs>269</Paragraphs>
  <Slides>27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4" baseType="lpstr">
      <vt:lpstr>微軟正黑體</vt:lpstr>
      <vt:lpstr>Google Sans Text</vt:lpstr>
      <vt:lpstr>Aptos</vt:lpstr>
      <vt:lpstr>Arial</vt:lpstr>
      <vt:lpstr>Cambria Math</vt:lpstr>
      <vt:lpstr>Garamond</vt:lpstr>
      <vt:lpstr>Office 2013 - 2022 主題</vt:lpstr>
      <vt:lpstr>Parallel Programming -Final Project- N-Body Simulation</vt:lpstr>
      <vt:lpstr>Outline</vt:lpstr>
      <vt:lpstr>Introduction</vt:lpstr>
      <vt:lpstr>Introduction</vt:lpstr>
      <vt:lpstr>Implementation</vt:lpstr>
      <vt:lpstr>Implementation</vt:lpstr>
      <vt:lpstr>Serial CPU Optimization</vt:lpstr>
      <vt:lpstr>Profiling (N = 4096)</vt:lpstr>
      <vt:lpstr>Speedup Table</vt:lpstr>
      <vt:lpstr>OpenMP Strong Scalability</vt:lpstr>
      <vt:lpstr>Hybrid Strong Scalability</vt:lpstr>
      <vt:lpstr>Execution Time Breakdown (MPI + OpenMP, N = 4096)</vt:lpstr>
      <vt:lpstr>CUDA and GPU Implementations</vt:lpstr>
      <vt:lpstr>GPU Baseline</vt:lpstr>
      <vt:lpstr>GPU Baseline</vt:lpstr>
      <vt:lpstr>GPU Baseline</vt:lpstr>
      <vt:lpstr>Share Memory</vt:lpstr>
      <vt:lpstr>Structure of Arrays</vt:lpstr>
      <vt:lpstr>PowerPoint 簡報</vt:lpstr>
      <vt:lpstr>CUDA Profiling Metrics</vt:lpstr>
      <vt:lpstr>PowerPoint 簡報</vt:lpstr>
      <vt:lpstr>CUDA Profiling Metrics</vt:lpstr>
      <vt:lpstr>PowerPoint 簡報</vt:lpstr>
      <vt:lpstr>CUDA Profiling Metrics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Programming -Final Project- N-Body Simulation</dc:title>
  <dc:creator>奕安 陳</dc:creator>
  <cp:lastModifiedBy>鄭凱元</cp:lastModifiedBy>
  <cp:revision>118</cp:revision>
  <dcterms:created xsi:type="dcterms:W3CDTF">2025-12-13T11:36:11Z</dcterms:created>
  <dcterms:modified xsi:type="dcterms:W3CDTF">2025-12-14T08:50:26Z</dcterms:modified>
</cp:coreProperties>
</file>